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70" r:id="rId5"/>
    <p:sldId id="271" r:id="rId6"/>
    <p:sldId id="272" r:id="rId7"/>
    <p:sldId id="273" r:id="rId8"/>
    <p:sldId id="295" r:id="rId9"/>
    <p:sldId id="296" r:id="rId10"/>
    <p:sldId id="297" r:id="rId11"/>
    <p:sldId id="298" r:id="rId12"/>
    <p:sldId id="299" r:id="rId13"/>
    <p:sldId id="300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.png"/><Relationship Id="rId8" Type="http://schemas.openxmlformats.org/officeDocument/2006/relationships/image" Target="../media/image5.png"/><Relationship Id="rId7" Type="http://schemas.openxmlformats.org/officeDocument/2006/relationships/image" Target="../media/image21.png"/><Relationship Id="rId6" Type="http://schemas.openxmlformats.org/officeDocument/2006/relationships/image" Target="../media/image14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8" Type="http://schemas.openxmlformats.org/officeDocument/2006/relationships/slideLayout" Target="../slideLayouts/slideLayout1.xml"/><Relationship Id="rId17" Type="http://schemas.openxmlformats.org/officeDocument/2006/relationships/image" Target="../media/image30.png"/><Relationship Id="rId16" Type="http://schemas.openxmlformats.org/officeDocument/2006/relationships/image" Target="../media/image29.png"/><Relationship Id="rId15" Type="http://schemas.openxmlformats.org/officeDocument/2006/relationships/image" Target="../media/image28.png"/><Relationship Id="rId14" Type="http://schemas.openxmlformats.org/officeDocument/2006/relationships/image" Target="../media/image27.png"/><Relationship Id="rId13" Type="http://schemas.openxmlformats.org/officeDocument/2006/relationships/image" Target="../media/image26.png"/><Relationship Id="rId12" Type="http://schemas.openxmlformats.org/officeDocument/2006/relationships/image" Target="../media/image25.png"/><Relationship Id="rId11" Type="http://schemas.openxmlformats.org/officeDocument/2006/relationships/image" Target="../media/image24.png"/><Relationship Id="rId10" Type="http://schemas.openxmlformats.org/officeDocument/2006/relationships/image" Target="../media/image23.png"/><Relationship Id="rId1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image" Target="../media/image31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35.jpeg"/><Relationship Id="rId1" Type="http://schemas.openxmlformats.org/officeDocument/2006/relationships/image" Target="../media/image3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3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881581" y="1721129"/>
            <a:ext cx="8720925" cy="597509"/>
          </a:xfrm>
          <a:prstGeom prst="rect">
            <a:avLst/>
          </a:prstGeom>
        </p:spPr>
      </p:pic>
      <p:sp>
        <p:nvSpPr>
          <p:cNvPr id="3" name="textbox 2"/>
          <p:cNvSpPr/>
          <p:nvPr/>
        </p:nvSpPr>
        <p:spPr>
          <a:xfrm>
            <a:off x="3729757" y="5057298"/>
            <a:ext cx="4752975" cy="97028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5000"/>
              </a:lnSpc>
            </a:pPr>
            <a:r>
              <a:rPr lang="zh-CN" sz="2600" spc="60" dirty="0">
                <a:ln w="6350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广西</a:t>
            </a:r>
            <a:r>
              <a:rPr sz="2600" spc="60" dirty="0">
                <a:ln w="6350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电网电力调度控制中</a:t>
            </a:r>
            <a:r>
              <a:rPr sz="2600" spc="40" dirty="0">
                <a:ln w="6350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心</a:t>
            </a:r>
            <a:endParaRPr lang="en-US" altLang="en-US" sz="2600" dirty="0"/>
          </a:p>
          <a:p>
            <a:pPr marL="1249680" algn="l" rtl="0" eaLnBrk="0">
              <a:lnSpc>
                <a:spcPts val="4795"/>
              </a:lnSpc>
            </a:pPr>
            <a:r>
              <a:rPr sz="2600" spc="90" dirty="0">
                <a:ln w="6350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2025年</a:t>
            </a:r>
            <a:r>
              <a:rPr lang="en-US" sz="2600" spc="90" dirty="0">
                <a:ln w="6350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r>
              <a:rPr sz="2600" spc="90" dirty="0">
                <a:ln w="6350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endParaRPr lang="en-US" altLang="en-US" sz="2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963911" y="117347"/>
            <a:ext cx="2031492" cy="420623"/>
          </a:xfrm>
          <a:prstGeom prst="rect">
            <a:avLst/>
          </a:prstGeom>
        </p:spPr>
      </p:pic>
      <p:sp>
        <p:nvSpPr>
          <p:cNvPr id="7" name="textbox 6"/>
          <p:cNvSpPr/>
          <p:nvPr/>
        </p:nvSpPr>
        <p:spPr>
          <a:xfrm>
            <a:off x="12023344" y="6617665"/>
            <a:ext cx="90169" cy="15747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lang="en-US" altLang="en-US" sz="100" dirty="0"/>
          </a:p>
          <a:p>
            <a:pPr marL="12700" algn="l" rtl="0" eaLnBrk="0">
              <a:lnSpc>
                <a:spcPct val="79000"/>
              </a:lnSpc>
            </a:pPr>
            <a:r>
              <a:rPr sz="1100" spc="0" dirty="0">
                <a:solidFill>
                  <a:srgbClr val="89898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lang="en-US" altLang="en-US" sz="1100" dirty="0"/>
          </a:p>
        </p:txBody>
      </p:sp>
      <p:sp>
        <p:nvSpPr>
          <p:cNvPr id="8" name="文本框 7"/>
          <p:cNvSpPr txBox="1"/>
          <p:nvPr/>
        </p:nvSpPr>
        <p:spPr>
          <a:xfrm>
            <a:off x="1880870" y="2346325"/>
            <a:ext cx="9025255" cy="1322070"/>
          </a:xfrm>
          <a:prstGeom prst="rect">
            <a:avLst/>
          </a:prstGeom>
        </p:spPr>
        <p:txBody>
          <a:bodyPr wrap="square" rtlCol="0" anchor="t">
            <a:spAutoFit/>
          </a:bodyPr>
          <a:p>
            <a:r>
              <a:rPr lang="zh-CN" altLang="en-US" sz="40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（六）加强电网、设备、作业风险协同</a:t>
            </a:r>
            <a:endParaRPr lang="zh-CN" altLang="en-US" sz="40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40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（七）加强多专业计划协同</a:t>
            </a:r>
            <a:endParaRPr lang="zh-CN" altLang="en-US" sz="40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/>
          <p:nvPr/>
        </p:nvSpPr>
        <p:spPr>
          <a:xfrm>
            <a:off x="1339011" y="1603850"/>
            <a:ext cx="9728834" cy="161543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lang="en-US" altLang="en-US" sz="100" dirty="0"/>
          </a:p>
          <a:p>
            <a:pPr marL="4102100" algn="l" rtl="0" eaLnBrk="0">
              <a:lnSpc>
                <a:spcPct val="92000"/>
              </a:lnSpc>
            </a:pPr>
            <a:r>
              <a:rPr sz="2000" spc="-10" dirty="0">
                <a:ln w="3175" cap="flat" cmpd="sng">
                  <a:solidFill>
                    <a:srgbClr val="7F7F7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7F7F7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</a:t>
            </a:r>
            <a:r>
              <a:rPr sz="2000" spc="0" dirty="0">
                <a:ln w="3175" cap="flat" cmpd="sng">
                  <a:solidFill>
                    <a:srgbClr val="7F7F7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7F7F7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识产权声明</a:t>
            </a:r>
            <a:endParaRPr lang="en-US" altLang="en-US" sz="2000" dirty="0"/>
          </a:p>
          <a:p>
            <a:pPr algn="l" rtl="0" eaLnBrk="0">
              <a:lnSpc>
                <a:spcPct val="121000"/>
              </a:lnSpc>
            </a:pPr>
            <a:endParaRPr lang="en-US" altLang="en-US" sz="400" dirty="0"/>
          </a:p>
          <a:p>
            <a:pPr marL="12700" indent="635" algn="l" rtl="0" eaLnBrk="0">
              <a:lnSpc>
                <a:spcPct val="159000"/>
              </a:lnSpc>
              <a:spcBef>
                <a:spcPts val="5"/>
              </a:spcBef>
            </a:pPr>
            <a:r>
              <a:rPr sz="1700" spc="100" dirty="0">
                <a:solidFill>
                  <a:srgbClr val="7F7F7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本文件的知识产权属南方电网公司所有。</a:t>
            </a:r>
            <a:r>
              <a:rPr sz="1700" spc="100" dirty="0">
                <a:solidFill>
                  <a:srgbClr val="7F7F7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700" spc="100" dirty="0">
                <a:solidFill>
                  <a:srgbClr val="7F7F7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对本文件的使用及处置应严格遵循南方电网</a:t>
            </a:r>
            <a:r>
              <a:rPr sz="1700" spc="90" dirty="0">
                <a:solidFill>
                  <a:srgbClr val="7F7F7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</a:t>
            </a:r>
            <a:r>
              <a:rPr sz="1700" spc="0" dirty="0">
                <a:solidFill>
                  <a:srgbClr val="7F7F7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司有关规</a:t>
            </a:r>
            <a:r>
              <a:rPr sz="1700" spc="0" dirty="0">
                <a:solidFill>
                  <a:srgbClr val="7F7F7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spc="80" dirty="0">
                <a:solidFill>
                  <a:srgbClr val="7F7F7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定或获取本文件的合同及约定的条件和要求。</a:t>
            </a:r>
            <a:r>
              <a:rPr sz="1700" spc="80" dirty="0">
                <a:solidFill>
                  <a:srgbClr val="7F7F7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700" spc="80" dirty="0">
                <a:solidFill>
                  <a:srgbClr val="7F7F7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未经南方电网公司事先书面同意</a:t>
            </a:r>
            <a:r>
              <a:rPr sz="1700" spc="80" dirty="0">
                <a:solidFill>
                  <a:srgbClr val="7F7F7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spc="80" dirty="0">
                <a:solidFill>
                  <a:srgbClr val="7F7F7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，不得对外披</a:t>
            </a:r>
            <a:r>
              <a:rPr sz="1700" spc="60" dirty="0">
                <a:solidFill>
                  <a:srgbClr val="7F7F7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露</a:t>
            </a:r>
            <a:r>
              <a:rPr sz="1700" spc="0" dirty="0">
                <a:solidFill>
                  <a:srgbClr val="7F7F7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1700" spc="0" dirty="0">
                <a:solidFill>
                  <a:srgbClr val="7F7F7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spc="60" dirty="0">
                <a:solidFill>
                  <a:srgbClr val="7F7F7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复制</a:t>
            </a:r>
            <a:r>
              <a:rPr sz="1700" spc="50" dirty="0">
                <a:solidFill>
                  <a:srgbClr val="7F7F7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en-US" sz="1700" dirty="0"/>
          </a:p>
        </p:txBody>
      </p:sp>
      <p:sp>
        <p:nvSpPr>
          <p:cNvPr id="8" name="textbox 8"/>
          <p:cNvSpPr/>
          <p:nvPr/>
        </p:nvSpPr>
        <p:spPr>
          <a:xfrm>
            <a:off x="1311122" y="3822806"/>
            <a:ext cx="9765665" cy="158051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2874645" algn="l" rtl="0" eaLnBrk="0">
              <a:lnSpc>
                <a:spcPts val="2680"/>
              </a:lnSpc>
            </a:pPr>
            <a:r>
              <a:rPr sz="2000" b="1" i="1" spc="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Intellectual</a:t>
            </a:r>
            <a:r>
              <a:rPr sz="2000" spc="5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000" b="1" i="1" spc="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Property</a:t>
            </a:r>
            <a:r>
              <a:rPr sz="2000" spc="5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000" b="1" i="1" spc="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Rights</a:t>
            </a:r>
            <a:r>
              <a:rPr sz="2000" spc="4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000" b="1" i="1" spc="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Statement</a:t>
            </a:r>
            <a:endParaRPr lang="en-US" altLang="en-US" sz="2000" dirty="0"/>
          </a:p>
          <a:p>
            <a:pPr marL="12700" indent="40640" algn="l" rtl="0" eaLnBrk="0">
              <a:lnSpc>
                <a:spcPct val="111000"/>
              </a:lnSpc>
              <a:spcBef>
                <a:spcPts val="500"/>
              </a:spcBef>
            </a:pPr>
            <a:r>
              <a:rPr sz="1700" i="1" spc="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This</a:t>
            </a:r>
            <a:r>
              <a:rPr sz="1700" spc="36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i="1" spc="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document</a:t>
            </a:r>
            <a:r>
              <a:rPr sz="1700" spc="36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i="1" spc="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is</a:t>
            </a:r>
            <a:r>
              <a:rPr sz="1700" spc="36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i="1" spc="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the</a:t>
            </a:r>
            <a:r>
              <a:rPr sz="1700" spc="36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i="1" spc="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property</a:t>
            </a:r>
            <a:r>
              <a:rPr sz="1700" spc="36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i="1" spc="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of</a:t>
            </a:r>
            <a:r>
              <a:rPr sz="1700" spc="36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i="1" spc="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and</a:t>
            </a:r>
            <a:r>
              <a:rPr sz="1700" spc="36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i="1" spc="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contains</a:t>
            </a:r>
            <a:r>
              <a:rPr sz="1700" spc="36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i="1" spc="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proprietary</a:t>
            </a:r>
            <a:r>
              <a:rPr sz="1700" spc="36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i="1" spc="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information</a:t>
            </a:r>
            <a:r>
              <a:rPr sz="1700" spc="36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i="1" spc="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owned</a:t>
            </a:r>
            <a:r>
              <a:rPr sz="1700" spc="36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i="1" spc="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by</a:t>
            </a:r>
            <a:r>
              <a:rPr sz="1700" spc="36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i="1" spc="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CSG</a:t>
            </a:r>
            <a:r>
              <a:rPr sz="1700" spc="36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i="1" spc="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and</a:t>
            </a:r>
            <a:r>
              <a:rPr sz="1700" i="1" spc="36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/</a:t>
            </a:r>
            <a:r>
              <a:rPr sz="1700" i="1" spc="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or</a:t>
            </a:r>
            <a:r>
              <a:rPr sz="1700" spc="36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i="1" spc="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its</a:t>
            </a:r>
            <a:r>
              <a:rPr sz="1700" spc="28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i="1" spc="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related</a:t>
            </a:r>
            <a:r>
              <a:rPr sz="1700" spc="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i="1" spc="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proprietor</a:t>
            </a:r>
            <a:r>
              <a:rPr sz="1700" i="1" spc="45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.</a:t>
            </a:r>
            <a:r>
              <a:rPr sz="1700" spc="45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i="1" spc="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You</a:t>
            </a:r>
            <a:r>
              <a:rPr sz="1700" spc="45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i="1" spc="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agree</a:t>
            </a:r>
            <a:r>
              <a:rPr sz="1700" spc="45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i="1" spc="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to</a:t>
            </a:r>
            <a:r>
              <a:rPr sz="1700" spc="45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i="1" spc="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treat</a:t>
            </a:r>
            <a:r>
              <a:rPr sz="1700" spc="45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i="1" spc="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this</a:t>
            </a:r>
            <a:r>
              <a:rPr sz="1700" spc="45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i="1" spc="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document</a:t>
            </a:r>
            <a:r>
              <a:rPr sz="1700" spc="45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i="1" spc="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in</a:t>
            </a:r>
            <a:r>
              <a:rPr sz="1700" spc="45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i="1" spc="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strict</a:t>
            </a:r>
            <a:r>
              <a:rPr sz="1700" spc="45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i="1" spc="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accordance</a:t>
            </a:r>
            <a:r>
              <a:rPr sz="1700" spc="45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i="1" spc="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with</a:t>
            </a:r>
            <a:r>
              <a:rPr sz="1700" spc="45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i="1" spc="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the</a:t>
            </a:r>
            <a:r>
              <a:rPr sz="1700" spc="45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i="1" spc="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terms</a:t>
            </a:r>
            <a:r>
              <a:rPr sz="1700" spc="45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i="1" spc="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and</a:t>
            </a:r>
            <a:r>
              <a:rPr sz="1700" spc="45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i="1" spc="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conditions</a:t>
            </a:r>
            <a:r>
              <a:rPr sz="1700" spc="45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i="1" spc="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of</a:t>
            </a:r>
            <a:r>
              <a:rPr sz="1700" spc="43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i="1" spc="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the</a:t>
            </a:r>
            <a:r>
              <a:rPr sz="1700" spc="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i="1" spc="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agreement</a:t>
            </a:r>
            <a:r>
              <a:rPr sz="1700" spc="54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i="1" spc="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under</a:t>
            </a:r>
            <a:r>
              <a:rPr sz="1700" spc="54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i="1" spc="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which</a:t>
            </a:r>
            <a:r>
              <a:rPr sz="1700" spc="54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i="1" spc="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it</a:t>
            </a:r>
            <a:r>
              <a:rPr sz="1700" spc="54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i="1" spc="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was</a:t>
            </a:r>
            <a:r>
              <a:rPr sz="1700" spc="54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i="1" spc="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provided</a:t>
            </a:r>
            <a:r>
              <a:rPr sz="1700" spc="54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i="1" spc="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to</a:t>
            </a:r>
            <a:r>
              <a:rPr sz="1700" spc="54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i="1" spc="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you</a:t>
            </a:r>
            <a:r>
              <a:rPr sz="1700" i="1" spc="54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.</a:t>
            </a:r>
            <a:r>
              <a:rPr sz="1700" spc="54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i="1" spc="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No</a:t>
            </a:r>
            <a:r>
              <a:rPr sz="1700" spc="54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i="1" spc="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disclosure</a:t>
            </a:r>
            <a:r>
              <a:rPr sz="1700" spc="54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i="1" spc="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or</a:t>
            </a:r>
            <a:r>
              <a:rPr sz="1700" spc="54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i="1" spc="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copy</a:t>
            </a:r>
            <a:r>
              <a:rPr sz="1700" spc="54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i="1" spc="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of</a:t>
            </a:r>
            <a:r>
              <a:rPr sz="1700" spc="54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i="1" spc="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this</a:t>
            </a:r>
            <a:r>
              <a:rPr sz="1700" spc="54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i="1" spc="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document</a:t>
            </a:r>
            <a:r>
              <a:rPr sz="1700" spc="54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i="1" spc="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is</a:t>
            </a:r>
            <a:r>
              <a:rPr sz="1700" spc="48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i="1" spc="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permitted</a:t>
            </a:r>
            <a:r>
              <a:rPr sz="1700" spc="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i="1" spc="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without</a:t>
            </a:r>
            <a:r>
              <a:rPr sz="1700" spc="29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i="1" spc="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the</a:t>
            </a:r>
            <a:r>
              <a:rPr sz="1700" spc="29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i="1" spc="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prior</a:t>
            </a:r>
            <a:r>
              <a:rPr sz="1700" spc="29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i="1" spc="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written</a:t>
            </a:r>
            <a:r>
              <a:rPr sz="1700" spc="29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i="1" spc="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permission</a:t>
            </a:r>
            <a:r>
              <a:rPr sz="1700" spc="29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i="1" spc="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of</a:t>
            </a:r>
            <a:r>
              <a:rPr sz="1700" spc="29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i="1" spc="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CSG</a:t>
            </a:r>
            <a:r>
              <a:rPr sz="1700" i="1" spc="28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.</a:t>
            </a:r>
            <a:endParaRPr lang="en-US" altLang="en-US" sz="1700" dirty="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9963911" y="117347"/>
            <a:ext cx="2031492" cy="420623"/>
          </a:xfrm>
          <a:prstGeom prst="rect">
            <a:avLst/>
          </a:prstGeom>
        </p:spPr>
      </p:pic>
      <p:sp>
        <p:nvSpPr>
          <p:cNvPr id="10" name="textbox 10"/>
          <p:cNvSpPr/>
          <p:nvPr/>
        </p:nvSpPr>
        <p:spPr>
          <a:xfrm>
            <a:off x="12018924" y="6616750"/>
            <a:ext cx="94614" cy="1587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lang="en-US" altLang="en-US" sz="100" dirty="0"/>
          </a:p>
          <a:p>
            <a:pPr marL="12700" algn="l" rtl="0" eaLnBrk="0">
              <a:lnSpc>
                <a:spcPct val="79000"/>
              </a:lnSpc>
            </a:pPr>
            <a:r>
              <a:rPr sz="1100" spc="0" dirty="0">
                <a:solidFill>
                  <a:srgbClr val="89898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lang="en-US" alt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picture 15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52425" y="1433829"/>
            <a:ext cx="5149850" cy="5250814"/>
          </a:xfrm>
          <a:prstGeom prst="rect">
            <a:avLst/>
          </a:prstGeom>
        </p:spPr>
      </p:pic>
      <p:sp>
        <p:nvSpPr>
          <p:cNvPr id="154" name="textbox 154"/>
          <p:cNvSpPr/>
          <p:nvPr/>
        </p:nvSpPr>
        <p:spPr>
          <a:xfrm>
            <a:off x="441708" y="1632802"/>
            <a:ext cx="5056504" cy="487743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lang="en-US" altLang="en-US" sz="100" dirty="0"/>
          </a:p>
          <a:p>
            <a:pPr marL="521335" algn="l" rtl="0" eaLnBrk="0">
              <a:lnSpc>
                <a:spcPct val="92000"/>
              </a:lnSpc>
            </a:pPr>
            <a:r>
              <a:rPr sz="200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落实公司电网、</a:t>
            </a:r>
            <a:r>
              <a:rPr sz="200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00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设备、</a:t>
            </a:r>
            <a:r>
              <a:rPr sz="2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作业风险协同管</a:t>
            </a:r>
            <a:endParaRPr lang="en-US" altLang="en-US" sz="2000" dirty="0"/>
          </a:p>
          <a:p>
            <a:pPr marL="15240" algn="l" rtl="0" eaLnBrk="0">
              <a:lnSpc>
                <a:spcPct val="92000"/>
              </a:lnSpc>
              <a:spcBef>
                <a:spcPts val="1390"/>
              </a:spcBef>
            </a:pPr>
            <a:r>
              <a:rPr sz="200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控工作要求</a:t>
            </a:r>
            <a:r>
              <a:rPr sz="200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，综合考量系统运行安全</a:t>
            </a:r>
            <a:r>
              <a:rPr sz="2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、设备</a:t>
            </a:r>
            <a:endParaRPr lang="en-US" altLang="en-US" sz="2000" dirty="0"/>
          </a:p>
          <a:p>
            <a:pPr marL="15875" algn="l" rtl="0" eaLnBrk="0">
              <a:lnSpc>
                <a:spcPct val="91000"/>
              </a:lnSpc>
              <a:spcBef>
                <a:spcPts val="1415"/>
              </a:spcBef>
            </a:pPr>
            <a:r>
              <a:rPr sz="200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运行安全、作业安全等因素</a:t>
            </a:r>
            <a:r>
              <a:rPr sz="200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，通过提</a:t>
            </a:r>
            <a:r>
              <a:rPr sz="2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前优化</a:t>
            </a:r>
            <a:endParaRPr lang="en-US" altLang="en-US" sz="2000" dirty="0"/>
          </a:p>
          <a:p>
            <a:pPr marL="14605" algn="l" rtl="0" eaLnBrk="0">
              <a:lnSpc>
                <a:spcPct val="92000"/>
              </a:lnSpc>
              <a:spcBef>
                <a:spcPts val="1390"/>
              </a:spcBef>
            </a:pPr>
            <a:r>
              <a:rPr sz="200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停电安排与电网运行方式、消除设备隐</a:t>
            </a:r>
            <a:r>
              <a:rPr sz="200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患</a:t>
            </a:r>
            <a:r>
              <a:rPr sz="2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endParaRPr lang="en-US" altLang="en-US" sz="2000" dirty="0"/>
          </a:p>
          <a:p>
            <a:pPr marL="15240" algn="l" rtl="0" eaLnBrk="0">
              <a:lnSpc>
                <a:spcPct val="91000"/>
              </a:lnSpc>
              <a:spcBef>
                <a:spcPts val="1415"/>
              </a:spcBef>
            </a:pPr>
            <a:r>
              <a:rPr sz="2000" spc="-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合理安排作业计划等方式</a:t>
            </a:r>
            <a:r>
              <a:rPr sz="2000" spc="-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spc="-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，从源头管控风险</a:t>
            </a:r>
            <a:r>
              <a:rPr sz="2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en-US" sz="2000" dirty="0"/>
          </a:p>
          <a:p>
            <a:pPr marL="15240" algn="l" rtl="0" eaLnBrk="0">
              <a:lnSpc>
                <a:spcPct val="91000"/>
              </a:lnSpc>
              <a:spcBef>
                <a:spcPts val="1415"/>
              </a:spcBef>
            </a:pPr>
            <a:r>
              <a:rPr sz="200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充分评估各类作业可能导致的最严重</a:t>
            </a:r>
            <a:r>
              <a:rPr sz="200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</a:t>
            </a:r>
            <a:r>
              <a:rPr sz="2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果</a:t>
            </a:r>
            <a:r>
              <a:rPr sz="2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en-US" sz="2000" dirty="0"/>
          </a:p>
          <a:p>
            <a:pPr marL="16510" algn="l" rtl="0" eaLnBrk="0">
              <a:lnSpc>
                <a:spcPct val="91000"/>
              </a:lnSpc>
              <a:spcBef>
                <a:spcPts val="1415"/>
              </a:spcBef>
            </a:pPr>
            <a:r>
              <a:rPr sz="200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必要时对作业风险提级管控。交叉作业的</a:t>
            </a:r>
            <a:r>
              <a:rPr sz="200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</a:t>
            </a:r>
            <a:endParaRPr lang="en-US" altLang="en-US" sz="2000" dirty="0"/>
          </a:p>
          <a:p>
            <a:pPr marL="27940" algn="l" rtl="0" eaLnBrk="0">
              <a:lnSpc>
                <a:spcPct val="92000"/>
              </a:lnSpc>
              <a:spcBef>
                <a:spcPts val="1395"/>
              </a:spcBef>
            </a:pPr>
            <a:r>
              <a:rPr sz="200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险定级应不低于各工作项的最高风</a:t>
            </a:r>
            <a:r>
              <a:rPr sz="200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险</a:t>
            </a:r>
            <a:r>
              <a:rPr sz="2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等级。</a:t>
            </a:r>
            <a:endParaRPr lang="en-US" altLang="en-US" sz="2000" dirty="0"/>
          </a:p>
          <a:p>
            <a:pPr marL="12700" algn="l" rtl="0" eaLnBrk="0">
              <a:lnSpc>
                <a:spcPct val="92000"/>
              </a:lnSpc>
              <a:spcBef>
                <a:spcPts val="1400"/>
              </a:spcBef>
            </a:pPr>
            <a:r>
              <a:rPr sz="200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加强主站系统功能需求管控</a:t>
            </a:r>
            <a:r>
              <a:rPr sz="200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，避免因功</a:t>
            </a:r>
            <a:r>
              <a:rPr sz="2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能频</a:t>
            </a:r>
            <a:endParaRPr lang="en-US" altLang="en-US" sz="2000" dirty="0"/>
          </a:p>
          <a:p>
            <a:pPr marL="16510" algn="l" rtl="0" eaLnBrk="0">
              <a:lnSpc>
                <a:spcPct val="91000"/>
              </a:lnSpc>
              <a:spcBef>
                <a:spcPts val="1410"/>
              </a:spcBef>
            </a:pPr>
            <a:r>
              <a:rPr sz="200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繁变更增加电网运行风险</a:t>
            </a:r>
            <a:r>
              <a:rPr sz="200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，系统功</a:t>
            </a:r>
            <a:r>
              <a:rPr sz="20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</a:t>
            </a:r>
            <a:r>
              <a:rPr sz="2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上线前</a:t>
            </a:r>
            <a:endParaRPr lang="en-US" altLang="en-US" sz="2000" dirty="0"/>
          </a:p>
          <a:p>
            <a:pPr algn="l" rtl="0" eaLnBrk="0">
              <a:lnSpc>
                <a:spcPct val="107000"/>
              </a:lnSpc>
            </a:pPr>
            <a:endParaRPr lang="en-US" altLang="en-US" sz="1100" dirty="0"/>
          </a:p>
          <a:p>
            <a:pPr algn="l" rtl="0" eaLnBrk="0">
              <a:lnSpc>
                <a:spcPct val="6000"/>
              </a:lnSpc>
            </a:pPr>
            <a:endParaRPr lang="en-US" altLang="en-US" sz="100" dirty="0"/>
          </a:p>
          <a:p>
            <a:pPr marL="15240" algn="l" rtl="0" eaLnBrk="0">
              <a:lnSpc>
                <a:spcPct val="91000"/>
              </a:lnSpc>
            </a:pPr>
            <a:r>
              <a:rPr sz="20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要进行</a:t>
            </a:r>
            <a:r>
              <a:rPr sz="2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论证、测试、验证和演练。</a:t>
            </a:r>
            <a:endParaRPr lang="en-US" altLang="en-US" sz="2000" dirty="0"/>
          </a:p>
        </p:txBody>
      </p:sp>
      <p:pic>
        <p:nvPicPr>
          <p:cNvPr id="155" name="picture 15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372984" y="1433829"/>
            <a:ext cx="4533900" cy="5250179"/>
          </a:xfrm>
          <a:prstGeom prst="rect">
            <a:avLst/>
          </a:prstGeom>
        </p:spPr>
      </p:pic>
      <p:sp>
        <p:nvSpPr>
          <p:cNvPr id="156" name="textbox 156"/>
          <p:cNvSpPr/>
          <p:nvPr/>
        </p:nvSpPr>
        <p:spPr>
          <a:xfrm>
            <a:off x="7417947" y="1632802"/>
            <a:ext cx="4609465" cy="487680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lang="en-US" altLang="en-US" sz="100" dirty="0"/>
          </a:p>
          <a:p>
            <a:pPr marL="521335" algn="l" rtl="0" eaLnBrk="0">
              <a:lnSpc>
                <a:spcPct val="92000"/>
              </a:lnSpc>
            </a:pPr>
            <a:r>
              <a:rPr sz="20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电网风险协同管控需综合考量</a:t>
            </a:r>
            <a:r>
              <a:rPr sz="2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设备、</a:t>
            </a:r>
            <a:endParaRPr lang="en-US" altLang="en-US" sz="2000" dirty="0"/>
          </a:p>
          <a:p>
            <a:pPr marL="13970" algn="l" rtl="0" eaLnBrk="0">
              <a:lnSpc>
                <a:spcPct val="91000"/>
              </a:lnSpc>
              <a:spcBef>
                <a:spcPts val="1425"/>
              </a:spcBef>
            </a:pPr>
            <a:r>
              <a:rPr sz="200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作业与突发事件风险</a:t>
            </a:r>
            <a:r>
              <a:rPr sz="200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000" spc="-3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落实作业管控</a:t>
            </a:r>
            <a:r>
              <a:rPr sz="2000" spc="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endParaRPr lang="en-US" altLang="en-US" sz="2000" dirty="0"/>
          </a:p>
          <a:p>
            <a:pPr marL="15240" algn="l" rtl="0" eaLnBrk="0">
              <a:lnSpc>
                <a:spcPct val="91000"/>
              </a:lnSpc>
              <a:spcBef>
                <a:spcPts val="1420"/>
              </a:spcBef>
            </a:pPr>
            <a:r>
              <a:rPr sz="2000" spc="-4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报备及差异化运维措施</a:t>
            </a:r>
            <a:r>
              <a:rPr sz="200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spc="-4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，优化停</a:t>
            </a:r>
            <a:r>
              <a:rPr sz="2000" spc="-2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</a:t>
            </a:r>
            <a:r>
              <a:rPr sz="2000" spc="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计划</a:t>
            </a:r>
            <a:r>
              <a:rPr sz="2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en-US" sz="2000" dirty="0"/>
          </a:p>
          <a:p>
            <a:pPr marL="466090" algn="l" rtl="0" eaLnBrk="0">
              <a:lnSpc>
                <a:spcPct val="92000"/>
              </a:lnSpc>
              <a:spcBef>
                <a:spcPts val="1380"/>
              </a:spcBef>
            </a:pPr>
            <a:r>
              <a:rPr sz="200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设备风险协同管控应开展</a:t>
            </a:r>
            <a:r>
              <a:rPr sz="2000" spc="4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</a:t>
            </a:r>
            <a:r>
              <a:rPr sz="2000" spc="1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</a:t>
            </a:r>
            <a:r>
              <a:rPr sz="2000" spc="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备</a:t>
            </a:r>
            <a:endParaRPr lang="en-US" altLang="en-US" sz="2000" dirty="0"/>
          </a:p>
          <a:p>
            <a:pPr marL="15875" algn="l" rtl="0" eaLnBrk="0">
              <a:lnSpc>
                <a:spcPct val="91000"/>
              </a:lnSpc>
              <a:spcBef>
                <a:spcPts val="1410"/>
              </a:spcBef>
            </a:pPr>
            <a:r>
              <a:rPr sz="2000" spc="-13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典型缺陷、</a:t>
            </a:r>
            <a:r>
              <a:rPr sz="2000" spc="-1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000" spc="-13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隐患和故障的设备</a:t>
            </a:r>
            <a:r>
              <a:rPr sz="2000" spc="-1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风险评估</a:t>
            </a:r>
            <a:r>
              <a:rPr sz="2000" spc="-1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spc="-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en-US" sz="2000" dirty="0"/>
          </a:p>
          <a:p>
            <a:pPr marL="14605" algn="l" rtl="0" eaLnBrk="0">
              <a:lnSpc>
                <a:spcPct val="91000"/>
              </a:lnSpc>
              <a:spcBef>
                <a:spcPts val="1420"/>
              </a:spcBef>
            </a:pPr>
            <a:r>
              <a:rPr sz="20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充</a:t>
            </a:r>
            <a:r>
              <a:rPr sz="2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分辨识对相关作业可能造成的影响</a:t>
            </a:r>
            <a:r>
              <a:rPr sz="2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en-US" sz="2000" dirty="0"/>
          </a:p>
          <a:p>
            <a:pPr marL="521970" indent="-506730" algn="l" rtl="0" eaLnBrk="0">
              <a:lnSpc>
                <a:spcPct val="149000"/>
              </a:lnSpc>
              <a:spcBef>
                <a:spcPts val="305"/>
              </a:spcBef>
            </a:pPr>
            <a:r>
              <a:rPr sz="200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及时发布设备风险</a:t>
            </a:r>
            <a:r>
              <a:rPr sz="200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，落实电网管</a:t>
            </a:r>
            <a:r>
              <a:rPr sz="200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</a:t>
            </a:r>
            <a:r>
              <a:rPr sz="2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措施。</a:t>
            </a:r>
            <a:r>
              <a:rPr sz="2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0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作业风险协同管控应</a:t>
            </a:r>
            <a:r>
              <a:rPr sz="2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根据</a:t>
            </a:r>
            <a:r>
              <a:rPr sz="2000" spc="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《作业导</a:t>
            </a:r>
            <a:endParaRPr lang="en-US" altLang="en-US" sz="2000" dirty="0"/>
          </a:p>
          <a:p>
            <a:pPr marL="15240" algn="l" rtl="0" eaLnBrk="0">
              <a:lnSpc>
                <a:spcPts val="2645"/>
              </a:lnSpc>
              <a:spcBef>
                <a:spcPts val="745"/>
              </a:spcBef>
            </a:pPr>
            <a:r>
              <a:rPr sz="2000" spc="1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致设备故障典型</a:t>
            </a:r>
            <a:r>
              <a:rPr sz="2000" spc="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场景清单》</a:t>
            </a:r>
            <a:r>
              <a:rPr sz="2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开展联动电</a:t>
            </a:r>
            <a:endParaRPr lang="en-US" altLang="en-US" sz="2000" dirty="0"/>
          </a:p>
          <a:p>
            <a:pPr marL="12700" indent="19050" algn="l" rtl="0" eaLnBrk="0">
              <a:lnSpc>
                <a:spcPct val="149000"/>
              </a:lnSpc>
              <a:spcBef>
                <a:spcPts val="5"/>
              </a:spcBef>
            </a:pPr>
            <a:r>
              <a:rPr sz="20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网风险、设备</a:t>
            </a:r>
            <a:r>
              <a:rPr sz="2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风险的作业风险辨识与评</a:t>
            </a:r>
            <a:r>
              <a:rPr sz="2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2000" spc="-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估</a:t>
            </a:r>
            <a:r>
              <a:rPr sz="2000" spc="-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spc="-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，落实管控要</a:t>
            </a:r>
            <a:r>
              <a:rPr sz="200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求</a:t>
            </a:r>
            <a:r>
              <a:rPr sz="2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en-US" sz="2000" dirty="0"/>
          </a:p>
        </p:txBody>
      </p:sp>
      <p:sp>
        <p:nvSpPr>
          <p:cNvPr id="157" name="textbox 157"/>
          <p:cNvSpPr/>
          <p:nvPr/>
        </p:nvSpPr>
        <p:spPr>
          <a:xfrm>
            <a:off x="128051" y="108317"/>
            <a:ext cx="6108700" cy="49403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87325" algn="l" rtl="0" eaLnBrk="0">
              <a:lnSpc>
                <a:spcPts val="3685"/>
              </a:lnSpc>
            </a:pPr>
            <a:r>
              <a:rPr sz="2700" spc="20" dirty="0">
                <a:ln w="6350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(六)</a:t>
            </a:r>
            <a:r>
              <a:rPr sz="270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spc="20" dirty="0">
                <a:ln w="6350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加强电网、</a:t>
            </a:r>
            <a:r>
              <a:rPr sz="270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700" spc="0" dirty="0">
                <a:ln w="6350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设备、</a:t>
            </a:r>
            <a:r>
              <a:rPr sz="27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700" spc="0" dirty="0">
                <a:ln w="6350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作业风险协同</a:t>
            </a:r>
            <a:endParaRPr lang="en-US" altLang="en-US" sz="2700" dirty="0"/>
          </a:p>
        </p:txBody>
      </p:sp>
      <p:sp>
        <p:nvSpPr>
          <p:cNvPr id="158" name="path"/>
          <p:cNvSpPr/>
          <p:nvPr/>
        </p:nvSpPr>
        <p:spPr>
          <a:xfrm>
            <a:off x="5798820" y="3502152"/>
            <a:ext cx="1313687" cy="752855"/>
          </a:xfrm>
          <a:custGeom>
            <a:avLst/>
            <a:gdLst/>
            <a:ahLst/>
            <a:cxnLst/>
            <a:rect l="0" t="0" r="0" b="0"/>
            <a:pathLst>
              <a:path w="2068" h="1185">
                <a:moveTo>
                  <a:pt x="623" y="0"/>
                </a:moveTo>
                <a:lnTo>
                  <a:pt x="1034" y="0"/>
                </a:lnTo>
                <a:lnTo>
                  <a:pt x="1444" y="592"/>
                </a:lnTo>
                <a:lnTo>
                  <a:pt x="1034" y="1185"/>
                </a:lnTo>
                <a:lnTo>
                  <a:pt x="623" y="1185"/>
                </a:lnTo>
                <a:lnTo>
                  <a:pt x="1034" y="592"/>
                </a:lnTo>
                <a:lnTo>
                  <a:pt x="623" y="0"/>
                </a:lnTo>
              </a:path>
              <a:path w="2068" h="1185">
                <a:moveTo>
                  <a:pt x="0" y="0"/>
                </a:moveTo>
                <a:lnTo>
                  <a:pt x="407" y="0"/>
                </a:lnTo>
                <a:lnTo>
                  <a:pt x="818" y="592"/>
                </a:lnTo>
                <a:lnTo>
                  <a:pt x="407" y="1185"/>
                </a:lnTo>
                <a:lnTo>
                  <a:pt x="0" y="1185"/>
                </a:lnTo>
                <a:lnTo>
                  <a:pt x="407" y="592"/>
                </a:lnTo>
                <a:lnTo>
                  <a:pt x="0" y="0"/>
                </a:lnTo>
              </a:path>
              <a:path w="2068" h="1185">
                <a:moveTo>
                  <a:pt x="1247" y="0"/>
                </a:moveTo>
                <a:lnTo>
                  <a:pt x="1658" y="0"/>
                </a:lnTo>
                <a:lnTo>
                  <a:pt x="2068" y="592"/>
                </a:lnTo>
                <a:lnTo>
                  <a:pt x="1658" y="1185"/>
                </a:lnTo>
                <a:lnTo>
                  <a:pt x="1247" y="1185"/>
                </a:lnTo>
                <a:lnTo>
                  <a:pt x="1658" y="592"/>
                </a:lnTo>
                <a:lnTo>
                  <a:pt x="1247" y="0"/>
                </a:lnTo>
              </a:path>
            </a:pathLst>
          </a:custGeom>
          <a:solidFill>
            <a:srgbClr val="5B9BD5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159" name="table 159"/>
          <p:cNvGraphicFramePr>
            <a:graphicFrameLocks noGrp="1"/>
          </p:cNvGraphicFramePr>
          <p:nvPr/>
        </p:nvGraphicFramePr>
        <p:xfrm>
          <a:off x="1328737" y="1110932"/>
          <a:ext cx="2225675" cy="426720"/>
        </p:xfrm>
        <a:graphic>
          <a:graphicData uri="http://schemas.openxmlformats.org/drawingml/2006/table">
            <a:tbl>
              <a:tblPr/>
              <a:tblGrid>
                <a:gridCol w="2225675"/>
              </a:tblGrid>
              <a:tr h="40132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lang="en-US" altLang="en-US" sz="500" dirty="0"/>
                    </a:p>
                    <a:p>
                      <a:pPr marL="673100" algn="l" rtl="0" eaLnBrk="0">
                        <a:lnSpc>
                          <a:spcPct val="91000"/>
                        </a:lnSpc>
                        <a:spcBef>
                          <a:spcPts val="5"/>
                        </a:spcBef>
                      </a:pPr>
                      <a:r>
                        <a:rPr sz="2000" spc="10" dirty="0">
                          <a:ln w="3175" cap="flat" cmpd="sng">
                            <a:solidFill>
                              <a:srgbClr val="FFFFFF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原</a:t>
                      </a:r>
                      <a:r>
                        <a:rPr sz="200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00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</a:t>
                      </a:r>
                      <a:r>
                        <a:rPr sz="2000" spc="0" dirty="0">
                          <a:ln w="3175" cap="flat" cmpd="sng">
                            <a:solidFill>
                              <a:srgbClr val="FFFFFF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文</a:t>
                      </a:r>
                      <a:endParaRPr lang="en-US" altLang="en-US" sz="2000" dirty="0"/>
                    </a:p>
                  </a:txBody>
                  <a:tcPr marL="0" marR="0" marT="0" marB="0" vert="horz">
                    <a:lnL w="2857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0" name="table 160"/>
          <p:cNvGraphicFramePr>
            <a:graphicFrameLocks noGrp="1"/>
          </p:cNvGraphicFramePr>
          <p:nvPr/>
        </p:nvGraphicFramePr>
        <p:xfrm>
          <a:off x="8528367" y="1103312"/>
          <a:ext cx="2073275" cy="426720"/>
        </p:xfrm>
        <a:graphic>
          <a:graphicData uri="http://schemas.openxmlformats.org/drawingml/2006/table">
            <a:tbl>
              <a:tblPr/>
              <a:tblGrid>
                <a:gridCol w="2073275"/>
              </a:tblGrid>
              <a:tr h="39814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600" dirty="0"/>
                    </a:p>
                    <a:p>
                      <a:pPr marL="521970" algn="l" rtl="0" eaLnBrk="0">
                        <a:lnSpc>
                          <a:spcPct val="91000"/>
                        </a:lnSpc>
                        <a:spcBef>
                          <a:spcPts val="5"/>
                        </a:spcBef>
                      </a:pPr>
                      <a:r>
                        <a:rPr sz="2000" spc="10" dirty="0">
                          <a:ln w="3175" cap="flat" cmpd="sng">
                            <a:solidFill>
                              <a:srgbClr val="FFFFFF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释</a:t>
                      </a:r>
                      <a:r>
                        <a:rPr sz="200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00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</a:t>
                      </a:r>
                      <a:r>
                        <a:rPr sz="2000" spc="0" dirty="0">
                          <a:ln w="3175" cap="flat" cmpd="sng">
                            <a:solidFill>
                              <a:srgbClr val="FFFFFF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义</a:t>
                      </a:r>
                      <a:endParaRPr lang="en-US" altLang="en-US" sz="2000" dirty="0"/>
                    </a:p>
                  </a:txBody>
                  <a:tcPr marL="0" marR="0" marT="0" marB="0" vert="horz">
                    <a:lnL w="2857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</a:tr>
            </a:tbl>
          </a:graphicData>
        </a:graphic>
      </p:graphicFrame>
      <p:pic>
        <p:nvPicPr>
          <p:cNvPr id="161" name="picture 16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650151"/>
            <a:ext cx="12192000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picture 16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5303520" y="979932"/>
            <a:ext cx="6422136" cy="5734811"/>
          </a:xfrm>
          <a:prstGeom prst="rect">
            <a:avLst/>
          </a:prstGeom>
        </p:spPr>
      </p:pic>
      <p:sp>
        <p:nvSpPr>
          <p:cNvPr id="163" name="textbox 163"/>
          <p:cNvSpPr/>
          <p:nvPr/>
        </p:nvSpPr>
        <p:spPr>
          <a:xfrm>
            <a:off x="460769" y="837544"/>
            <a:ext cx="4318634" cy="528320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1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4000"/>
              </a:lnSpc>
            </a:pPr>
            <a:r>
              <a:rPr sz="2700" spc="100" dirty="0">
                <a:ln w="6350" cap="flat" cmpd="sng">
                  <a:solidFill>
                    <a:srgbClr val="4472C4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4472C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协同管控要</a:t>
            </a:r>
            <a:r>
              <a:rPr sz="2700" spc="40" dirty="0">
                <a:ln w="6350" cap="flat" cmpd="sng">
                  <a:solidFill>
                    <a:srgbClr val="4472C4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4472C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求</a:t>
            </a:r>
            <a:endParaRPr lang="en-US" altLang="en-US" sz="2700" dirty="0"/>
          </a:p>
          <a:p>
            <a:pPr algn="l" rtl="0" eaLnBrk="0">
              <a:lnSpc>
                <a:spcPct val="130000"/>
              </a:lnSpc>
            </a:pPr>
            <a:endParaRPr lang="en-US" altLang="en-US" sz="1000" dirty="0"/>
          </a:p>
          <a:p>
            <a:pPr algn="l" rtl="0" eaLnBrk="0">
              <a:lnSpc>
                <a:spcPct val="131000"/>
              </a:lnSpc>
            </a:pPr>
            <a:endParaRPr lang="en-US" altLang="en-US" sz="1000" dirty="0"/>
          </a:p>
          <a:p>
            <a:pPr marL="198120" algn="l" rtl="0" eaLnBrk="0">
              <a:lnSpc>
                <a:spcPts val="2375"/>
              </a:lnSpc>
              <a:spcBef>
                <a:spcPts val="515"/>
              </a:spcBef>
            </a:pPr>
            <a:r>
              <a:rPr sz="1700" spc="-140" dirty="0">
                <a:solidFill>
                  <a:srgbClr val="FF0000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ü</a:t>
            </a:r>
            <a:r>
              <a:rPr sz="1700" spc="-140" dirty="0">
                <a:solidFill>
                  <a:srgbClr val="FF0000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1700" spc="-140" dirty="0">
                <a:ln w="3175" cap="flat" cmpd="sng">
                  <a:solidFill>
                    <a:srgbClr val="FF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</a:t>
            </a:r>
            <a:r>
              <a:rPr sz="1700" spc="-14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spc="-100" dirty="0">
                <a:ln w="3175" cap="flat" cmpd="sng">
                  <a:solidFill>
                    <a:srgbClr val="FF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lang="en-US" altLang="en-US" sz="1700" dirty="0"/>
          </a:p>
          <a:p>
            <a:pPr marL="468630" indent="-267335" algn="l" rtl="0" eaLnBrk="0">
              <a:lnSpc>
                <a:spcPct val="151000"/>
              </a:lnSpc>
              <a:spcBef>
                <a:spcPts val="905"/>
              </a:spcBef>
            </a:pPr>
            <a:r>
              <a:rPr sz="1700" spc="-10" dirty="0">
                <a:solidFill>
                  <a:srgbClr val="000000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u</a:t>
            </a:r>
            <a:r>
              <a:rPr sz="1700" spc="-10" dirty="0">
                <a:solidFill>
                  <a:srgbClr val="000000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1700" spc="-1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“应做必做”任务</a:t>
            </a:r>
            <a:r>
              <a:rPr sz="17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spc="-1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sz="17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设备反措及隐患</a:t>
            </a:r>
            <a:r>
              <a:rPr sz="17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170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整改等专项工作完成情况、</a:t>
            </a:r>
            <a:r>
              <a:rPr sz="170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70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缺</a:t>
            </a:r>
            <a:r>
              <a:rPr sz="17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陷隐患</a:t>
            </a:r>
            <a:r>
              <a:rPr sz="17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170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情况、</a:t>
            </a:r>
            <a:r>
              <a:rPr sz="170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70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超期未修未试未检情况</a:t>
            </a:r>
            <a:r>
              <a:rPr sz="170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sz="170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包</a:t>
            </a:r>
            <a:r>
              <a:rPr sz="17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括</a:t>
            </a:r>
            <a:r>
              <a:rPr sz="17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170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站用电源定检超期</a:t>
            </a:r>
            <a:r>
              <a:rPr sz="170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r>
              <a:rPr sz="170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、超期服役情</a:t>
            </a:r>
            <a:r>
              <a:rPr sz="17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况、</a:t>
            </a:r>
            <a:r>
              <a:rPr sz="17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700" spc="1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新产品</a:t>
            </a:r>
            <a:r>
              <a:rPr sz="1700" spc="1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spc="1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(技术)</a:t>
            </a:r>
            <a:r>
              <a:rPr sz="1700" spc="1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spc="1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</a:t>
            </a:r>
            <a:r>
              <a:rPr sz="1700" spc="1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en-US" sz="1700" dirty="0"/>
          </a:p>
          <a:p>
            <a:pPr algn="l" rtl="0" eaLnBrk="0">
              <a:lnSpc>
                <a:spcPct val="100000"/>
              </a:lnSpc>
            </a:pPr>
            <a:endParaRPr lang="en-US" altLang="en-US" sz="700" dirty="0"/>
          </a:p>
          <a:p>
            <a:pPr algn="l" rtl="0" eaLnBrk="0">
              <a:lnSpc>
                <a:spcPct val="7000"/>
              </a:lnSpc>
            </a:pPr>
            <a:endParaRPr lang="en-US" altLang="en-US" sz="100" dirty="0"/>
          </a:p>
          <a:p>
            <a:pPr marL="470535" indent="-269240" algn="l" rtl="0" eaLnBrk="0">
              <a:lnSpc>
                <a:spcPct val="149000"/>
              </a:lnSpc>
            </a:pPr>
            <a:r>
              <a:rPr sz="1700" spc="0" dirty="0">
                <a:solidFill>
                  <a:srgbClr val="000000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u</a:t>
            </a:r>
            <a:r>
              <a:rPr sz="1700" spc="2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其他管控措施</a:t>
            </a:r>
            <a:r>
              <a:rPr sz="170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：设备消缺、</a:t>
            </a:r>
            <a:r>
              <a:rPr sz="170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70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隐</a:t>
            </a:r>
            <a:r>
              <a:rPr sz="17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患</a:t>
            </a:r>
            <a:r>
              <a:rPr sz="17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整治、</a:t>
            </a:r>
            <a:r>
              <a:rPr sz="17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70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检修试验定检</a:t>
            </a:r>
            <a:r>
              <a:rPr sz="170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；在风险生效前及</a:t>
            </a:r>
            <a:r>
              <a:rPr sz="170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</a:t>
            </a:r>
            <a:r>
              <a:rPr sz="17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</a:t>
            </a:r>
            <a:r>
              <a:rPr sz="17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170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期间缩短</a:t>
            </a:r>
            <a:r>
              <a:rPr sz="17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GIS</a:t>
            </a:r>
            <a:r>
              <a:rPr sz="170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局放、</a:t>
            </a:r>
            <a:r>
              <a:rPr sz="170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70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变压器油</a:t>
            </a:r>
            <a:r>
              <a:rPr sz="17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色</a:t>
            </a:r>
            <a:r>
              <a:rPr sz="17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谱等</a:t>
            </a:r>
            <a:r>
              <a:rPr sz="17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170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在线监测周期</a:t>
            </a:r>
            <a:r>
              <a:rPr sz="170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，开展避雷器等设</a:t>
            </a:r>
            <a:r>
              <a:rPr sz="170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备</a:t>
            </a:r>
            <a:r>
              <a:rPr sz="17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带</a:t>
            </a:r>
            <a:r>
              <a:rPr sz="17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170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电检测等</a:t>
            </a:r>
            <a:r>
              <a:rPr sz="170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en-US" sz="1700" dirty="0"/>
          </a:p>
        </p:txBody>
      </p:sp>
      <p:sp>
        <p:nvSpPr>
          <p:cNvPr id="164" name="textbox 164"/>
          <p:cNvSpPr/>
          <p:nvPr/>
        </p:nvSpPr>
        <p:spPr>
          <a:xfrm>
            <a:off x="128051" y="108317"/>
            <a:ext cx="6108700" cy="49403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87325" algn="l" rtl="0" eaLnBrk="0">
              <a:lnSpc>
                <a:spcPts val="3685"/>
              </a:lnSpc>
            </a:pPr>
            <a:r>
              <a:rPr sz="2700" spc="20" dirty="0">
                <a:ln w="6350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(六)</a:t>
            </a:r>
            <a:r>
              <a:rPr sz="270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spc="20" dirty="0">
                <a:ln w="6350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加强电网、</a:t>
            </a:r>
            <a:r>
              <a:rPr sz="270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700" spc="0" dirty="0">
                <a:ln w="6350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设备、</a:t>
            </a:r>
            <a:r>
              <a:rPr sz="27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700" spc="0" dirty="0">
                <a:ln w="6350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作业风险协同</a:t>
            </a:r>
            <a:endParaRPr lang="en-US" altLang="en-US" sz="2700" dirty="0"/>
          </a:p>
        </p:txBody>
      </p:sp>
      <p:pic>
        <p:nvPicPr>
          <p:cNvPr id="165" name="picture 16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50151"/>
            <a:ext cx="12192000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roup 62"/>
          <p:cNvGrpSpPr/>
          <p:nvPr/>
        </p:nvGrpSpPr>
        <p:grpSpPr>
          <a:xfrm rot="21600000">
            <a:off x="6577330" y="1718627"/>
            <a:ext cx="4871719" cy="4837747"/>
            <a:chOff x="0" y="0"/>
            <a:chExt cx="4871719" cy="4837747"/>
          </a:xfrm>
        </p:grpSpPr>
        <p:pic>
          <p:nvPicPr>
            <p:cNvPr id="166" name="picture 16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rot="21600000">
              <a:off x="0" y="0"/>
              <a:ext cx="4871719" cy="4837747"/>
            </a:xfrm>
            <a:prstGeom prst="rect">
              <a:avLst/>
            </a:prstGeom>
          </p:spPr>
        </p:pic>
        <p:sp>
          <p:nvSpPr>
            <p:cNvPr id="167" name="textbox 167"/>
            <p:cNvSpPr/>
            <p:nvPr/>
          </p:nvSpPr>
          <p:spPr>
            <a:xfrm>
              <a:off x="185392" y="78262"/>
              <a:ext cx="4547234" cy="3190239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4000"/>
                </a:lnSpc>
              </a:pPr>
              <a:endParaRPr lang="en-US" altLang="en-US" sz="100" dirty="0"/>
            </a:p>
            <a:p>
              <a:pPr marL="1630045" algn="l" rtl="0" eaLnBrk="0">
                <a:lnSpc>
                  <a:spcPct val="92000"/>
                </a:lnSpc>
              </a:pPr>
              <a:r>
                <a:rPr sz="2000" spc="10" dirty="0">
                  <a:ln w="3175" cap="flat" cmpd="sng">
                    <a:solidFill>
                      <a:srgbClr val="FFFFFF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风</a:t>
              </a:r>
              <a:r>
                <a:rPr sz="2000" spc="1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2000" spc="10" dirty="0">
                  <a:ln w="3175" cap="flat" cmpd="sng">
                    <a:solidFill>
                      <a:srgbClr val="FFFFFF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险</a:t>
              </a:r>
              <a:r>
                <a:rPr sz="2000" spc="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2000" spc="0" dirty="0">
                  <a:ln w="3175" cap="flat" cmpd="sng">
                    <a:solidFill>
                      <a:srgbClr val="FFFFFF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释</a:t>
              </a:r>
              <a:r>
                <a:rPr sz="2000" spc="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2000" spc="0" dirty="0">
                  <a:ln w="3175" cap="flat" cmpd="sng">
                    <a:solidFill>
                      <a:srgbClr val="FFFFFF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义</a:t>
              </a:r>
              <a:endParaRPr lang="en-US" altLang="en-US" sz="2000" dirty="0"/>
            </a:p>
            <a:p>
              <a:pPr marL="300355" indent="-271145" algn="l" rtl="0" eaLnBrk="0">
                <a:lnSpc>
                  <a:spcPct val="109000"/>
                </a:lnSpc>
                <a:spcBef>
                  <a:spcPts val="1255"/>
                </a:spcBef>
              </a:pPr>
              <a:r>
                <a:rPr sz="1500" spc="0" dirty="0">
                  <a:solidFill>
                    <a:srgbClr val="000000">
                      <a:alpha val="100000"/>
                    </a:srgbClr>
                  </a:solidFill>
                  <a:latin typeface="Wingdings" panose="05000000000000000000"/>
                  <a:ea typeface="Wingdings" panose="05000000000000000000"/>
                  <a:cs typeface="Wingdings" panose="05000000000000000000"/>
                </a:rPr>
                <a:t>u</a:t>
              </a:r>
              <a:r>
                <a:rPr sz="1500" spc="100" dirty="0">
                  <a:solidFill>
                    <a:srgbClr val="000000">
                      <a:alpha val="100000"/>
                    </a:srgbClr>
                  </a:solidFill>
                  <a:latin typeface="Wingdings" panose="05000000000000000000"/>
                  <a:ea typeface="Wingdings" panose="05000000000000000000"/>
                  <a:cs typeface="Wingdings" panose="05000000000000000000"/>
                </a:rPr>
                <a:t> </a:t>
              </a:r>
              <a:r>
                <a:rPr sz="1500" spc="100" dirty="0">
                  <a:ln w="3175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评估要求</a:t>
              </a:r>
              <a:r>
                <a:rPr sz="1500" spc="10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500" spc="100" dirty="0">
                  <a:ln w="3175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：</a:t>
              </a:r>
              <a:r>
                <a:rPr sz="1500" spc="10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《中国南方电网公司生产现场</a:t>
              </a:r>
              <a:r>
                <a:rPr sz="1500" spc="4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作</a:t>
              </a:r>
              <a:r>
                <a:rPr sz="150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业</a:t>
              </a:r>
              <a:r>
                <a:rPr sz="150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500" spc="10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风险管控业务指导书</a:t>
              </a:r>
              <a:r>
                <a:rPr sz="1500" spc="5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》</a:t>
              </a:r>
              <a:endParaRPr lang="en-US" altLang="en-US" sz="1500" dirty="0"/>
            </a:p>
            <a:p>
              <a:pPr marL="301625" indent="-273050" algn="l" rtl="0" eaLnBrk="0">
                <a:lnSpc>
                  <a:spcPct val="107000"/>
                </a:lnSpc>
                <a:spcBef>
                  <a:spcPts val="10"/>
                </a:spcBef>
              </a:pPr>
              <a:r>
                <a:rPr sz="1500" spc="0" dirty="0">
                  <a:solidFill>
                    <a:srgbClr val="000000">
                      <a:alpha val="100000"/>
                    </a:srgbClr>
                  </a:solidFill>
                  <a:latin typeface="Wingdings" panose="05000000000000000000"/>
                  <a:ea typeface="Wingdings" panose="05000000000000000000"/>
                  <a:cs typeface="Wingdings" panose="05000000000000000000"/>
                </a:rPr>
                <a:t>u</a:t>
              </a:r>
              <a:r>
                <a:rPr sz="1500" spc="170" dirty="0">
                  <a:solidFill>
                    <a:srgbClr val="000000">
                      <a:alpha val="100000"/>
                    </a:srgbClr>
                  </a:solidFill>
                  <a:latin typeface="Wingdings" panose="05000000000000000000"/>
                  <a:ea typeface="Wingdings" panose="05000000000000000000"/>
                  <a:cs typeface="Wingdings" panose="05000000000000000000"/>
                </a:rPr>
                <a:t> </a:t>
              </a:r>
              <a:r>
                <a:rPr sz="1500" spc="170" dirty="0">
                  <a:ln w="3175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评估依据</a:t>
              </a:r>
              <a:r>
                <a:rPr sz="1500" spc="17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500" spc="170" dirty="0">
                  <a:ln w="3175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：</a:t>
              </a:r>
              <a:r>
                <a:rPr sz="1500" spc="170" dirty="0">
                  <a:solidFill>
                    <a:srgbClr val="FF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《作业导致设备故障典型场景</a:t>
              </a:r>
              <a:r>
                <a:rPr sz="1500" spc="140" dirty="0">
                  <a:solidFill>
                    <a:srgbClr val="FF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清</a:t>
              </a:r>
              <a:r>
                <a:rPr sz="1500" spc="0" dirty="0">
                  <a:solidFill>
                    <a:srgbClr val="FF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500" spc="70" dirty="0">
                  <a:solidFill>
                    <a:srgbClr val="FF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单》</a:t>
              </a:r>
              <a:r>
                <a:rPr sz="1500" spc="70" dirty="0">
                  <a:solidFill>
                    <a:srgbClr val="FF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500" spc="70" dirty="0">
                  <a:solidFill>
                    <a:srgbClr val="FF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、《电网联动风险值评分</a:t>
              </a:r>
              <a:r>
                <a:rPr sz="1500" spc="10" dirty="0">
                  <a:solidFill>
                    <a:srgbClr val="FF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表</a:t>
              </a:r>
              <a:r>
                <a:rPr sz="1500" spc="0" dirty="0">
                  <a:ln w="3175" cap="flat" cmpd="sng">
                    <a:solidFill>
                      <a:srgbClr val="FF0000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FF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》</a:t>
              </a:r>
              <a:endParaRPr lang="en-US" altLang="en-US" sz="1500" dirty="0"/>
            </a:p>
            <a:p>
              <a:pPr marL="436245" indent="-407035" algn="l" rtl="0" eaLnBrk="0">
                <a:lnSpc>
                  <a:spcPct val="112000"/>
                </a:lnSpc>
                <a:spcBef>
                  <a:spcPts val="20"/>
                </a:spcBef>
              </a:pPr>
              <a:r>
                <a:rPr sz="1500" spc="0" dirty="0">
                  <a:solidFill>
                    <a:srgbClr val="000000">
                      <a:alpha val="100000"/>
                    </a:srgbClr>
                  </a:solidFill>
                  <a:latin typeface="Wingdings" panose="05000000000000000000"/>
                  <a:ea typeface="Wingdings" panose="05000000000000000000"/>
                  <a:cs typeface="Wingdings" panose="05000000000000000000"/>
                </a:rPr>
                <a:t>u</a:t>
              </a:r>
              <a:r>
                <a:rPr sz="1500" spc="-30" dirty="0">
                  <a:solidFill>
                    <a:srgbClr val="000000">
                      <a:alpha val="100000"/>
                    </a:srgbClr>
                  </a:solidFill>
                  <a:latin typeface="Wingdings" panose="05000000000000000000"/>
                  <a:ea typeface="Wingdings" panose="05000000000000000000"/>
                  <a:cs typeface="Wingdings" panose="05000000000000000000"/>
                </a:rPr>
                <a:t> </a:t>
              </a:r>
              <a:r>
                <a:rPr sz="1500" spc="-30" dirty="0">
                  <a:ln w="3175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评估流程</a:t>
              </a:r>
              <a:r>
                <a:rPr sz="1500" spc="-3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500" spc="-3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：</a:t>
              </a:r>
              <a:r>
                <a:rPr sz="150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                                                      </a:t>
              </a:r>
              <a:r>
                <a:rPr sz="1500" spc="10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1.根据本单位</a:t>
              </a:r>
              <a:r>
                <a:rPr sz="1500" spc="100" dirty="0">
                  <a:ln w="3175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《清单》</a:t>
              </a:r>
              <a:r>
                <a:rPr sz="1500" spc="10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500" spc="10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与作业现场实际评</a:t>
              </a:r>
              <a:r>
                <a:rPr sz="1500" spc="8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估</a:t>
              </a:r>
              <a:r>
                <a:rPr sz="150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作</a:t>
              </a:r>
              <a:endParaRPr lang="en-US" altLang="en-US" sz="1500" dirty="0"/>
            </a:p>
            <a:p>
              <a:pPr marL="15875" algn="l" rtl="0" eaLnBrk="0">
                <a:lnSpc>
                  <a:spcPct val="96000"/>
                </a:lnSpc>
                <a:spcBef>
                  <a:spcPts val="10"/>
                </a:spcBef>
              </a:pPr>
              <a:r>
                <a:rPr sz="1500" spc="9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业可能导致的故障设备</a:t>
              </a:r>
              <a:r>
                <a:rPr sz="1500" spc="6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。</a:t>
              </a:r>
              <a:endParaRPr lang="en-US" altLang="en-US" sz="1500" dirty="0"/>
            </a:p>
            <a:p>
              <a:pPr marL="12700" indent="416560" algn="l" rtl="0" eaLnBrk="0">
                <a:lnSpc>
                  <a:spcPct val="108000"/>
                </a:lnSpc>
                <a:spcBef>
                  <a:spcPts val="100"/>
                </a:spcBef>
              </a:pPr>
              <a:r>
                <a:rPr sz="1500" spc="13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2.根据各级电力调度控制中心发布的基准</a:t>
              </a:r>
              <a:r>
                <a:rPr sz="1500" spc="11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电</a:t>
              </a:r>
              <a:r>
                <a:rPr sz="150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网</a:t>
              </a:r>
              <a:r>
                <a:rPr sz="150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500" spc="10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风险库与基于问题电网风险信息</a:t>
              </a:r>
              <a:r>
                <a:rPr sz="1500" spc="10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500" spc="10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，确定作业导</a:t>
              </a:r>
              <a:r>
                <a:rPr sz="1500" spc="5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致</a:t>
              </a:r>
              <a:r>
                <a:rPr sz="150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设</a:t>
              </a:r>
              <a:r>
                <a:rPr sz="150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500" spc="10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备故障将引发的电力安全事故事件后果</a:t>
              </a:r>
              <a:r>
                <a:rPr sz="1500" spc="10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500" spc="10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，按</a:t>
              </a:r>
              <a:r>
                <a:rPr sz="1500" spc="100" dirty="0">
                  <a:ln w="3175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《</a:t>
              </a:r>
              <a:r>
                <a:rPr sz="1500" spc="50" dirty="0">
                  <a:ln w="3175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评</a:t>
              </a:r>
              <a:r>
                <a:rPr sz="1500" spc="0" dirty="0">
                  <a:ln w="3175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r>
                <a:rPr sz="150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500" spc="30" dirty="0">
                  <a:ln w="3175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表》</a:t>
              </a:r>
              <a:r>
                <a:rPr sz="1500" spc="3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确定</a:t>
              </a:r>
              <a:r>
                <a:rPr sz="1500" spc="3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</a:t>
              </a:r>
              <a:r>
                <a:rPr sz="1500" spc="3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“电网联动风险</a:t>
              </a:r>
              <a:r>
                <a:rPr sz="1500" spc="1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值</a:t>
              </a:r>
              <a:r>
                <a:rPr sz="150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”。</a:t>
              </a:r>
              <a:endParaRPr lang="en-US" altLang="en-US" sz="1500" dirty="0"/>
            </a:p>
          </p:txBody>
        </p:sp>
        <p:pic>
          <p:nvPicPr>
            <p:cNvPr id="168" name="picture 16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173989" y="3798251"/>
              <a:ext cx="4605528" cy="697992"/>
            </a:xfrm>
            <a:prstGeom prst="rect">
              <a:avLst/>
            </a:prstGeom>
          </p:spPr>
        </p:pic>
      </p:grpSp>
      <p:graphicFrame>
        <p:nvGraphicFramePr>
          <p:cNvPr id="169" name="table 169"/>
          <p:cNvGraphicFramePr>
            <a:graphicFrameLocks noGrp="1"/>
          </p:cNvGraphicFramePr>
          <p:nvPr/>
        </p:nvGraphicFramePr>
        <p:xfrm>
          <a:off x="710565" y="2123440"/>
          <a:ext cx="4871084" cy="4432934"/>
        </p:xfrm>
        <a:graphic>
          <a:graphicData uri="http://schemas.openxmlformats.org/drawingml/2006/table">
            <a:tbl>
              <a:tblPr/>
              <a:tblGrid>
                <a:gridCol w="4871084"/>
              </a:tblGrid>
              <a:tr h="442023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9000"/>
                        </a:lnSpc>
                      </a:pPr>
                      <a:endParaRPr lang="en-US" altLang="en-US" sz="100" dirty="0"/>
                    </a:p>
                    <a:p>
                      <a:pPr marL="214630" indent="1003935" algn="l" rtl="0" eaLnBrk="0">
                        <a:lnSpc>
                          <a:spcPct val="105000"/>
                        </a:lnSpc>
                      </a:pPr>
                      <a:r>
                        <a:rPr sz="1500" spc="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</a:t>
                      </a:r>
                      <a:r>
                        <a:rPr sz="1500" spc="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母线失压将造成二级事件</a:t>
                      </a:r>
                      <a:r>
                        <a:rPr sz="1500" spc="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500" spc="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，对</a:t>
                      </a:r>
                      <a:r>
                        <a:rPr sz="150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照</a:t>
                      </a: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</a:t>
                      </a:r>
                      <a:r>
                        <a:rPr sz="150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《评分表》</a:t>
                      </a:r>
                      <a:r>
                        <a:rPr sz="150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</a:t>
                      </a:r>
                      <a:r>
                        <a:rPr sz="150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</a:t>
                      </a:r>
                      <a:r>
                        <a:rPr sz="1500" spc="80" dirty="0">
                          <a:ln w="3175" cap="flat" cmpd="sng">
                            <a:solidFill>
                              <a:srgbClr val="FF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此次作业风险评估需叠加的电网</a:t>
                      </a:r>
                      <a:r>
                        <a:rPr sz="1500" spc="60" dirty="0">
                          <a:ln w="3175" cap="flat" cmpd="sng">
                            <a:solidFill>
                              <a:srgbClr val="FF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联</a:t>
                      </a:r>
                      <a:r>
                        <a:rPr sz="1500" spc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</a:t>
                      </a:r>
                      <a:r>
                        <a:rPr sz="1500" spc="90" dirty="0">
                          <a:ln w="3175" cap="flat" cmpd="sng">
                            <a:solidFill>
                              <a:srgbClr val="FF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动风险值为40分</a:t>
                      </a:r>
                      <a:r>
                        <a:rPr sz="1500" spc="60" dirty="0">
                          <a:ln w="3175" cap="flat" cmpd="sng">
                            <a:solidFill>
                              <a:srgbClr val="FF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。</a:t>
                      </a:r>
                      <a:endParaRPr lang="en-US" altLang="en-US" sz="1500" dirty="0"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70" name="table 170"/>
          <p:cNvGraphicFramePr>
            <a:graphicFrameLocks noGrp="1"/>
          </p:cNvGraphicFramePr>
          <p:nvPr/>
        </p:nvGraphicFramePr>
        <p:xfrm>
          <a:off x="1905317" y="1719262"/>
          <a:ext cx="2600325" cy="427354"/>
        </p:xfrm>
        <a:graphic>
          <a:graphicData uri="http://schemas.openxmlformats.org/drawingml/2006/table">
            <a:tbl>
              <a:tblPr/>
              <a:tblGrid>
                <a:gridCol w="2600325"/>
              </a:tblGrid>
              <a:tr h="39877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600" dirty="0"/>
                    </a:p>
                    <a:p>
                      <a:pPr marL="683895" algn="l" rtl="0" eaLnBrk="0">
                        <a:lnSpc>
                          <a:spcPct val="91000"/>
                        </a:lnSpc>
                        <a:spcBef>
                          <a:spcPts val="5"/>
                        </a:spcBef>
                      </a:pPr>
                      <a:r>
                        <a:rPr sz="2000" spc="0" dirty="0">
                          <a:ln w="3175" cap="flat" cmpd="sng">
                            <a:solidFill>
                              <a:srgbClr val="FFFFFF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典</a:t>
                      </a:r>
                      <a:r>
                        <a:rPr sz="200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000" spc="0" dirty="0">
                          <a:ln w="3175" cap="flat" cmpd="sng">
                            <a:solidFill>
                              <a:srgbClr val="FFFFFF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型</a:t>
                      </a:r>
                      <a:r>
                        <a:rPr sz="200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000" spc="0" dirty="0">
                          <a:ln w="3175" cap="flat" cmpd="sng">
                            <a:solidFill>
                              <a:srgbClr val="FFFFFF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案</a:t>
                      </a:r>
                      <a:endParaRPr lang="en-US" altLang="en-US" sz="2000" dirty="0"/>
                    </a:p>
                  </a:txBody>
                  <a:tcPr marL="0" marR="0" marT="0" marB="0" vert="horz">
                    <a:lnL w="2857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</a:tr>
            </a:tbl>
          </a:graphicData>
        </a:graphic>
      </p:graphicFrame>
      <p:sp>
        <p:nvSpPr>
          <p:cNvPr id="171" name="textbox 171"/>
          <p:cNvSpPr/>
          <p:nvPr/>
        </p:nvSpPr>
        <p:spPr>
          <a:xfrm>
            <a:off x="909927" y="1800071"/>
            <a:ext cx="4577715" cy="292988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lang="en-US" altLang="en-US" sz="100" dirty="0"/>
          </a:p>
          <a:p>
            <a:pPr marL="2667000" algn="l" rtl="0" eaLnBrk="0">
              <a:lnSpc>
                <a:spcPct val="90000"/>
              </a:lnSpc>
            </a:pPr>
            <a:r>
              <a:rPr sz="2000" spc="0" dirty="0">
                <a:ln w="3175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</a:t>
            </a:r>
            <a:endParaRPr lang="en-US" altLang="en-US" sz="2000" dirty="0"/>
          </a:p>
          <a:p>
            <a:pPr marL="300990" indent="-271780" algn="l" rtl="0" eaLnBrk="0">
              <a:lnSpc>
                <a:spcPct val="107000"/>
              </a:lnSpc>
              <a:spcBef>
                <a:spcPts val="1150"/>
              </a:spcBef>
            </a:pPr>
            <a:r>
              <a:rPr sz="1500" spc="0" dirty="0">
                <a:solidFill>
                  <a:srgbClr val="000000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u</a:t>
            </a:r>
            <a:r>
              <a:rPr sz="1500" spc="80" dirty="0">
                <a:solidFill>
                  <a:srgbClr val="000000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1500" spc="8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作业内容</a:t>
            </a:r>
            <a:r>
              <a:rPr sz="150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spc="8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sz="150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某班组将开展</a:t>
            </a:r>
            <a:r>
              <a:rPr sz="15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sz="150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变电站220</a:t>
            </a:r>
            <a:r>
              <a:rPr sz="15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kV</a:t>
            </a:r>
            <a:r>
              <a:rPr sz="150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母</a:t>
            </a:r>
            <a:r>
              <a:rPr sz="150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差</a:t>
            </a:r>
            <a:r>
              <a:rPr sz="15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50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及失灵保护定检作</a:t>
            </a:r>
            <a:r>
              <a:rPr sz="150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</a:t>
            </a:r>
            <a:endParaRPr lang="en-US" altLang="en-US" sz="1500" dirty="0"/>
          </a:p>
          <a:p>
            <a:pPr marL="300990" indent="-272415" algn="l" rtl="0" eaLnBrk="0">
              <a:lnSpc>
                <a:spcPct val="106000"/>
              </a:lnSpc>
              <a:spcBef>
                <a:spcPts val="25"/>
              </a:spcBef>
            </a:pPr>
            <a:r>
              <a:rPr sz="1500" spc="0" dirty="0">
                <a:solidFill>
                  <a:srgbClr val="000000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u</a:t>
            </a:r>
            <a:r>
              <a:rPr sz="1500" spc="30" dirty="0">
                <a:solidFill>
                  <a:srgbClr val="000000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1500" spc="3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核查依据</a:t>
            </a:r>
            <a:r>
              <a:rPr sz="150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spc="3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sz="150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《作业导致设备故障典型场景清单</a:t>
            </a:r>
            <a:r>
              <a:rPr sz="150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》</a:t>
            </a:r>
            <a:r>
              <a:rPr sz="15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50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与现场勘查情</a:t>
            </a:r>
            <a:r>
              <a:rPr sz="150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况</a:t>
            </a:r>
            <a:endParaRPr lang="en-US" altLang="en-US" sz="1500" dirty="0"/>
          </a:p>
          <a:p>
            <a:pPr marL="436245" indent="-407035" algn="l" rtl="0" eaLnBrk="0">
              <a:lnSpc>
                <a:spcPct val="110000"/>
              </a:lnSpc>
              <a:spcBef>
                <a:spcPts val="20"/>
              </a:spcBef>
            </a:pPr>
            <a:r>
              <a:rPr sz="1500" spc="0" dirty="0">
                <a:solidFill>
                  <a:srgbClr val="000000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u</a:t>
            </a:r>
            <a:r>
              <a:rPr sz="1500" spc="-40" dirty="0">
                <a:solidFill>
                  <a:srgbClr val="000000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1500" spc="-4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风险分析</a:t>
            </a:r>
            <a:r>
              <a:rPr sz="150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spc="-2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sz="15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              </a:t>
            </a:r>
            <a:r>
              <a:rPr sz="1500" spc="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</a:t>
            </a:r>
            <a:r>
              <a:rPr sz="1500" spc="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spc="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因母差及失灵保护屏中运行设备二次</a:t>
            </a:r>
            <a:r>
              <a:rPr sz="150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</a:t>
            </a:r>
            <a:r>
              <a:rPr sz="15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</a:t>
            </a:r>
            <a:endParaRPr lang="en-US" altLang="en-US" sz="1500" dirty="0"/>
          </a:p>
          <a:p>
            <a:pPr marL="12700" indent="1905" algn="l" rtl="0" eaLnBrk="0">
              <a:lnSpc>
                <a:spcPct val="108000"/>
              </a:lnSpc>
              <a:spcBef>
                <a:spcPts val="140"/>
              </a:spcBef>
            </a:pPr>
            <a:r>
              <a:rPr sz="150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措施执行不到位</a:t>
            </a:r>
            <a:r>
              <a:rPr sz="150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，可能导致作业期间误碰运行</a:t>
            </a:r>
            <a:r>
              <a:rPr sz="150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</a:t>
            </a:r>
            <a:r>
              <a:rPr sz="15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50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备联跳回路造成跳闸</a:t>
            </a:r>
            <a:r>
              <a:rPr sz="150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，需开展电网风险评估</a:t>
            </a:r>
            <a:r>
              <a:rPr sz="150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lang="en-US" altLang="en-US" sz="1500" dirty="0"/>
          </a:p>
          <a:p>
            <a:pPr marL="15240" indent="414020" algn="l" rtl="0" eaLnBrk="0">
              <a:lnSpc>
                <a:spcPct val="107000"/>
              </a:lnSpc>
              <a:spcBef>
                <a:spcPts val="5"/>
              </a:spcBef>
            </a:pPr>
            <a:r>
              <a:rPr sz="150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2.查询调度部门发布的基准电网风险</a:t>
            </a:r>
            <a:r>
              <a:rPr sz="150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5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sz="150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变</a:t>
            </a:r>
            <a:r>
              <a:rPr sz="15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</a:t>
            </a:r>
            <a:r>
              <a:rPr sz="15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500" spc="2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站22</a:t>
            </a:r>
            <a:r>
              <a:rPr sz="1500" spc="2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sz="15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kV</a:t>
            </a:r>
            <a:endParaRPr lang="en-US" altLang="en-US" sz="1500" dirty="0"/>
          </a:p>
        </p:txBody>
      </p:sp>
      <p:pic>
        <p:nvPicPr>
          <p:cNvPr id="172" name="picture 17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459991" y="5216652"/>
            <a:ext cx="3374135" cy="1296923"/>
          </a:xfrm>
          <a:prstGeom prst="rect">
            <a:avLst/>
          </a:prstGeom>
        </p:spPr>
      </p:pic>
      <p:sp>
        <p:nvSpPr>
          <p:cNvPr id="173" name="textbox 173"/>
          <p:cNvSpPr/>
          <p:nvPr/>
        </p:nvSpPr>
        <p:spPr>
          <a:xfrm>
            <a:off x="803706" y="944981"/>
            <a:ext cx="7640955" cy="42799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3165"/>
              </a:lnSpc>
            </a:pPr>
            <a:r>
              <a:rPr sz="2300" spc="70" dirty="0">
                <a:ln w="6350" cap="flat" cmpd="sng">
                  <a:solidFill>
                    <a:srgbClr val="FF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作业风险协同管控</a:t>
            </a:r>
            <a:r>
              <a:rPr sz="2300" spc="7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300" spc="70" dirty="0">
                <a:ln w="6350" cap="flat" cmpd="sng">
                  <a:solidFill>
                    <a:srgbClr val="FF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sz="2300" spc="70" dirty="0">
                <a:ln w="6350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联动电网风险的作业风险辨识与评</a:t>
            </a:r>
            <a:r>
              <a:rPr sz="2300" spc="30" dirty="0">
                <a:ln w="6350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估</a:t>
            </a:r>
            <a:endParaRPr lang="en-US" altLang="en-US" sz="2300" dirty="0"/>
          </a:p>
        </p:txBody>
      </p:sp>
      <p:sp>
        <p:nvSpPr>
          <p:cNvPr id="174" name="textbox 174"/>
          <p:cNvSpPr/>
          <p:nvPr/>
        </p:nvSpPr>
        <p:spPr>
          <a:xfrm>
            <a:off x="128051" y="108317"/>
            <a:ext cx="6108700" cy="49403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87325" algn="l" rtl="0" eaLnBrk="0">
              <a:lnSpc>
                <a:spcPts val="3685"/>
              </a:lnSpc>
            </a:pPr>
            <a:r>
              <a:rPr sz="2700" spc="20" dirty="0">
                <a:ln w="6350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(六)</a:t>
            </a:r>
            <a:r>
              <a:rPr sz="270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spc="20" dirty="0">
                <a:ln w="6350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加强电网、</a:t>
            </a:r>
            <a:r>
              <a:rPr sz="270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700" spc="0" dirty="0">
                <a:ln w="6350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设备、</a:t>
            </a:r>
            <a:r>
              <a:rPr sz="27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700" spc="0" dirty="0">
                <a:ln w="6350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作业风险协同</a:t>
            </a:r>
            <a:endParaRPr lang="en-US" altLang="en-US" sz="2700" dirty="0"/>
          </a:p>
        </p:txBody>
      </p:sp>
      <p:pic>
        <p:nvPicPr>
          <p:cNvPr id="175" name="picture 17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0" y="650151"/>
            <a:ext cx="12192000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roup 64"/>
          <p:cNvGrpSpPr/>
          <p:nvPr/>
        </p:nvGrpSpPr>
        <p:grpSpPr>
          <a:xfrm rot="21600000">
            <a:off x="6577330" y="1718627"/>
            <a:ext cx="4871719" cy="4837747"/>
            <a:chOff x="0" y="0"/>
            <a:chExt cx="4871719" cy="4837747"/>
          </a:xfrm>
        </p:grpSpPr>
        <p:pic>
          <p:nvPicPr>
            <p:cNvPr id="176" name="picture 17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rot="21600000">
              <a:off x="0" y="0"/>
              <a:ext cx="4871719" cy="4837747"/>
            </a:xfrm>
            <a:prstGeom prst="rect">
              <a:avLst/>
            </a:prstGeom>
          </p:spPr>
        </p:pic>
        <p:sp>
          <p:nvSpPr>
            <p:cNvPr id="177" name="textbox 177"/>
            <p:cNvSpPr/>
            <p:nvPr/>
          </p:nvSpPr>
          <p:spPr>
            <a:xfrm>
              <a:off x="186607" y="78262"/>
              <a:ext cx="4657725" cy="3678554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4000"/>
                </a:lnSpc>
              </a:pPr>
              <a:endParaRPr lang="en-US" altLang="en-US" sz="100" dirty="0"/>
            </a:p>
            <a:p>
              <a:pPr marL="1628775" algn="l" rtl="0" eaLnBrk="0">
                <a:lnSpc>
                  <a:spcPct val="92000"/>
                </a:lnSpc>
              </a:pPr>
              <a:r>
                <a:rPr sz="2000" spc="10" dirty="0">
                  <a:ln w="3175" cap="flat" cmpd="sng">
                    <a:solidFill>
                      <a:srgbClr val="FFFFFF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风</a:t>
              </a:r>
              <a:r>
                <a:rPr sz="2000" spc="1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2000" spc="10" dirty="0">
                  <a:ln w="3175" cap="flat" cmpd="sng">
                    <a:solidFill>
                      <a:srgbClr val="FFFFFF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险</a:t>
              </a:r>
              <a:r>
                <a:rPr sz="2000" spc="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2000" spc="0" dirty="0">
                  <a:ln w="3175" cap="flat" cmpd="sng">
                    <a:solidFill>
                      <a:srgbClr val="FFFFFF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释</a:t>
              </a:r>
              <a:r>
                <a:rPr sz="2000" spc="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2000" spc="0" dirty="0">
                  <a:ln w="3175" cap="flat" cmpd="sng">
                    <a:solidFill>
                      <a:srgbClr val="FFFFFF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义</a:t>
              </a:r>
              <a:endParaRPr lang="en-US" altLang="en-US" sz="2000" dirty="0"/>
            </a:p>
            <a:p>
              <a:pPr marL="299085" indent="-271145" algn="l" rtl="0" eaLnBrk="0">
                <a:lnSpc>
                  <a:spcPct val="109000"/>
                </a:lnSpc>
                <a:spcBef>
                  <a:spcPts val="1255"/>
                </a:spcBef>
              </a:pPr>
              <a:r>
                <a:rPr sz="1500" spc="0" dirty="0">
                  <a:solidFill>
                    <a:srgbClr val="000000">
                      <a:alpha val="100000"/>
                    </a:srgbClr>
                  </a:solidFill>
                  <a:latin typeface="Wingdings" panose="05000000000000000000"/>
                  <a:ea typeface="Wingdings" panose="05000000000000000000"/>
                  <a:cs typeface="Wingdings" panose="05000000000000000000"/>
                </a:rPr>
                <a:t>u</a:t>
              </a:r>
              <a:r>
                <a:rPr sz="1500" spc="100" dirty="0">
                  <a:solidFill>
                    <a:srgbClr val="000000">
                      <a:alpha val="100000"/>
                    </a:srgbClr>
                  </a:solidFill>
                  <a:latin typeface="Wingdings" panose="05000000000000000000"/>
                  <a:ea typeface="Wingdings" panose="05000000000000000000"/>
                  <a:cs typeface="Wingdings" panose="05000000000000000000"/>
                </a:rPr>
                <a:t> </a:t>
              </a:r>
              <a:r>
                <a:rPr sz="1500" spc="100" dirty="0">
                  <a:ln w="3175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评估要求</a:t>
              </a:r>
              <a:r>
                <a:rPr sz="1500" spc="10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500" spc="100" dirty="0">
                  <a:ln w="3175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：</a:t>
              </a:r>
              <a:r>
                <a:rPr sz="1500" spc="10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《中国南方电网公司生产现场</a:t>
              </a:r>
              <a:r>
                <a:rPr sz="1500" spc="4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作</a:t>
              </a:r>
              <a:r>
                <a:rPr sz="150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业</a:t>
              </a:r>
              <a:r>
                <a:rPr sz="150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</a:t>
              </a:r>
              <a:r>
                <a:rPr sz="1500" spc="10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风险管控业务指导书</a:t>
              </a:r>
              <a:r>
                <a:rPr sz="1500" spc="5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》</a:t>
              </a:r>
              <a:endParaRPr lang="en-US" altLang="en-US" sz="1500" dirty="0"/>
            </a:p>
            <a:p>
              <a:pPr marL="27940" algn="l" rtl="0" eaLnBrk="0">
                <a:lnSpc>
                  <a:spcPts val="1940"/>
                </a:lnSpc>
              </a:pPr>
              <a:r>
                <a:rPr sz="1400" spc="0" dirty="0">
                  <a:solidFill>
                    <a:srgbClr val="000000">
                      <a:alpha val="100000"/>
                    </a:srgbClr>
                  </a:solidFill>
                  <a:latin typeface="Wingdings" panose="05000000000000000000"/>
                  <a:ea typeface="Wingdings" panose="05000000000000000000"/>
                  <a:cs typeface="Wingdings" panose="05000000000000000000"/>
                </a:rPr>
                <a:t>u</a:t>
              </a:r>
              <a:r>
                <a:rPr sz="1400" spc="130" dirty="0">
                  <a:solidFill>
                    <a:srgbClr val="000000">
                      <a:alpha val="100000"/>
                    </a:srgbClr>
                  </a:solidFill>
                  <a:latin typeface="Wingdings" panose="05000000000000000000"/>
                  <a:ea typeface="Wingdings" panose="05000000000000000000"/>
                  <a:cs typeface="Wingdings" panose="05000000000000000000"/>
                </a:rPr>
                <a:t> </a:t>
              </a:r>
              <a:r>
                <a:rPr sz="1400" spc="130" dirty="0">
                  <a:ln w="3175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评估依据</a:t>
              </a:r>
              <a:r>
                <a:rPr sz="1400" spc="13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400" spc="130" dirty="0">
                  <a:ln w="3175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：</a:t>
              </a:r>
              <a:r>
                <a:rPr sz="1400" spc="130" dirty="0">
                  <a:solidFill>
                    <a:srgbClr val="FF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《作业导致设备故障典型场景清单</a:t>
              </a:r>
              <a:r>
                <a:rPr sz="1400" spc="50" dirty="0">
                  <a:solidFill>
                    <a:srgbClr val="FF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》</a:t>
              </a:r>
              <a:endParaRPr lang="en-US" altLang="en-US" sz="1400" dirty="0"/>
            </a:p>
            <a:p>
              <a:pPr marL="27940" algn="l" rtl="0" eaLnBrk="0">
                <a:lnSpc>
                  <a:spcPts val="1895"/>
                </a:lnSpc>
              </a:pPr>
              <a:r>
                <a:rPr sz="1400" spc="0" dirty="0">
                  <a:solidFill>
                    <a:srgbClr val="000000">
                      <a:alpha val="100000"/>
                    </a:srgbClr>
                  </a:solidFill>
                  <a:latin typeface="Wingdings" panose="05000000000000000000"/>
                  <a:ea typeface="Wingdings" panose="05000000000000000000"/>
                  <a:cs typeface="Wingdings" panose="05000000000000000000"/>
                </a:rPr>
                <a:t>u</a:t>
              </a:r>
              <a:r>
                <a:rPr sz="1400" spc="30" dirty="0">
                  <a:solidFill>
                    <a:srgbClr val="000000">
                      <a:alpha val="100000"/>
                    </a:srgbClr>
                  </a:solidFill>
                  <a:latin typeface="Wingdings" panose="05000000000000000000"/>
                  <a:ea typeface="Wingdings" panose="05000000000000000000"/>
                  <a:cs typeface="Wingdings" panose="05000000000000000000"/>
                </a:rPr>
                <a:t> </a:t>
              </a:r>
              <a:r>
                <a:rPr sz="1400" spc="30" dirty="0">
                  <a:ln w="3175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评估流程</a:t>
              </a:r>
              <a:r>
                <a:rPr sz="140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40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：</a:t>
              </a:r>
              <a:endParaRPr lang="en-US" altLang="en-US" sz="1400" dirty="0"/>
            </a:p>
            <a:p>
              <a:pPr marL="22225" indent="412750" algn="l" rtl="0" eaLnBrk="0">
                <a:lnSpc>
                  <a:spcPct val="108000"/>
                </a:lnSpc>
                <a:spcBef>
                  <a:spcPts val="5"/>
                </a:spcBef>
              </a:pPr>
              <a:r>
                <a:rPr sz="1500" spc="10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1.根据本单位</a:t>
              </a:r>
              <a:r>
                <a:rPr sz="1500" spc="100" dirty="0">
                  <a:ln w="3175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《清单》</a:t>
              </a:r>
              <a:r>
                <a:rPr sz="1500" spc="10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500" spc="10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梳理可能影响保电</a:t>
              </a:r>
              <a:r>
                <a:rPr sz="1500" spc="8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设</a:t>
              </a:r>
              <a:r>
                <a:rPr sz="150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备</a:t>
              </a:r>
              <a:r>
                <a:rPr sz="150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</a:t>
              </a:r>
              <a:r>
                <a:rPr sz="1500" spc="6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的作业</a:t>
              </a:r>
              <a:r>
                <a:rPr sz="1500" spc="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。</a:t>
              </a:r>
              <a:endParaRPr lang="en-US" altLang="en-US" sz="1500" dirty="0"/>
            </a:p>
            <a:p>
              <a:pPr marL="12700" indent="415290" algn="l" rtl="0" eaLnBrk="0">
                <a:lnSpc>
                  <a:spcPct val="102000"/>
                </a:lnSpc>
                <a:spcBef>
                  <a:spcPts val="200"/>
                </a:spcBef>
              </a:pPr>
              <a:r>
                <a:rPr sz="1500" spc="13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2.根据电网风险变化情况开展作业风险评估</a:t>
              </a:r>
              <a:r>
                <a:rPr sz="1500" spc="8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50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</a:t>
              </a:r>
              <a:r>
                <a:rPr sz="150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</a:t>
              </a:r>
              <a:r>
                <a:rPr sz="1500" spc="4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制定、</a:t>
              </a:r>
              <a:r>
                <a:rPr sz="1500" spc="4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</a:t>
              </a:r>
              <a:r>
                <a:rPr sz="1500" spc="4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落实作业风险管控措施。</a:t>
              </a:r>
              <a:r>
                <a:rPr sz="1500" spc="4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</a:t>
              </a:r>
              <a:r>
                <a:rPr sz="1500" spc="40" dirty="0">
                  <a:solidFill>
                    <a:srgbClr val="FF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对于</a:t>
              </a:r>
              <a:r>
                <a:rPr sz="1500" spc="10" dirty="0">
                  <a:solidFill>
                    <a:srgbClr val="FF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可</a:t>
              </a:r>
              <a:r>
                <a:rPr sz="1500" spc="0" dirty="0">
                  <a:solidFill>
                    <a:srgbClr val="FF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能导致Ⅲ级</a:t>
              </a:r>
              <a:r>
                <a:rPr sz="1500" spc="0" dirty="0">
                  <a:solidFill>
                    <a:srgbClr val="FF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</a:t>
              </a:r>
              <a:r>
                <a:rPr sz="1500" spc="120" dirty="0">
                  <a:solidFill>
                    <a:srgbClr val="FF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及以上电网风险保电设备故障的作业原则上不予</a:t>
              </a:r>
              <a:r>
                <a:rPr sz="1500" spc="70" dirty="0">
                  <a:solidFill>
                    <a:srgbClr val="FF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实</a:t>
              </a:r>
              <a:r>
                <a:rPr sz="1500" spc="0" dirty="0">
                  <a:solidFill>
                    <a:srgbClr val="FF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</a:t>
              </a:r>
              <a:r>
                <a:rPr sz="1500" spc="50" dirty="0">
                  <a:solidFill>
                    <a:srgbClr val="FF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施</a:t>
              </a:r>
              <a:r>
                <a:rPr sz="1500" spc="3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。</a:t>
              </a:r>
              <a:endParaRPr lang="en-US" altLang="en-US" sz="1500" dirty="0"/>
            </a:p>
            <a:p>
              <a:pPr marL="12700" indent="408305" algn="l" rtl="0" eaLnBrk="0">
                <a:lnSpc>
                  <a:spcPct val="113000"/>
                </a:lnSpc>
                <a:spcBef>
                  <a:spcPts val="0"/>
                </a:spcBef>
              </a:pPr>
              <a:r>
                <a:rPr sz="1500" spc="100" dirty="0">
                  <a:ln w="3175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典型的《作业导致设备故障典型场景清单》</a:t>
              </a:r>
              <a:r>
                <a:rPr sz="1500" spc="3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500" spc="0" dirty="0">
                  <a:ln w="3175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可</a:t>
              </a:r>
              <a:r>
                <a:rPr sz="150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</a:t>
              </a:r>
              <a:r>
                <a:rPr sz="1500" spc="-10" dirty="0">
                  <a:ln w="3175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参考</a:t>
              </a:r>
              <a:r>
                <a:rPr sz="1500" spc="-1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500" spc="-10" dirty="0">
                  <a:ln w="3175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：《输配电联系单〔</a:t>
              </a:r>
              <a:r>
                <a:rPr sz="1500" spc="-1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500" spc="-10" dirty="0">
                  <a:ln w="3175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2024〕</a:t>
              </a:r>
              <a:r>
                <a:rPr sz="1500" spc="-1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</a:t>
              </a:r>
              <a:r>
                <a:rPr sz="1500" spc="-10" dirty="0">
                  <a:ln w="3175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29号</a:t>
              </a:r>
              <a:r>
                <a:rPr sz="1500" spc="-1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500" spc="-10" dirty="0">
                  <a:ln w="3175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电网、</a:t>
              </a:r>
              <a:r>
                <a:rPr sz="1500" spc="-1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</a:t>
              </a:r>
              <a:r>
                <a:rPr sz="1500" spc="-10" dirty="0">
                  <a:ln w="3175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设备、</a:t>
              </a:r>
              <a:r>
                <a:rPr sz="150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</a:t>
              </a:r>
              <a:r>
                <a:rPr sz="1500" spc="80" dirty="0">
                  <a:ln w="3175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作业风险协同管控工作指引》</a:t>
              </a:r>
              <a:r>
                <a:rPr sz="1500" spc="8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500" spc="80" dirty="0">
                  <a:ln w="3175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附录</a:t>
              </a:r>
              <a:r>
                <a:rPr sz="1500" spc="0" dirty="0">
                  <a:ln w="3175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B</a:t>
              </a:r>
              <a:r>
                <a:rPr sz="1500" spc="80" dirty="0">
                  <a:ln w="3175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-</a:t>
              </a:r>
              <a:r>
                <a:rPr sz="1500" spc="20" dirty="0">
                  <a:ln w="3175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endParaRPr lang="en-US" altLang="en-US" sz="1500" dirty="0"/>
            </a:p>
          </p:txBody>
        </p:sp>
        <p:pic>
          <p:nvPicPr>
            <p:cNvPr id="178" name="picture 17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94741" y="4039044"/>
              <a:ext cx="4698491" cy="367283"/>
            </a:xfrm>
            <a:prstGeom prst="rect">
              <a:avLst/>
            </a:prstGeom>
          </p:spPr>
        </p:pic>
      </p:grpSp>
      <p:pic>
        <p:nvPicPr>
          <p:cNvPr id="179" name="picture 17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10565" y="2123440"/>
            <a:ext cx="4871719" cy="4433569"/>
          </a:xfrm>
          <a:prstGeom prst="rect">
            <a:avLst/>
          </a:prstGeom>
        </p:spPr>
      </p:pic>
      <p:sp>
        <p:nvSpPr>
          <p:cNvPr id="180" name="textbox 180"/>
          <p:cNvSpPr/>
          <p:nvPr/>
        </p:nvSpPr>
        <p:spPr>
          <a:xfrm>
            <a:off x="911548" y="2222181"/>
            <a:ext cx="4576445" cy="250634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lang="en-US" altLang="en-US" sz="100" dirty="0"/>
          </a:p>
          <a:p>
            <a:pPr marL="299085" indent="-271145" algn="l" rtl="0" eaLnBrk="0">
              <a:lnSpc>
                <a:spcPct val="107000"/>
              </a:lnSpc>
            </a:pPr>
            <a:r>
              <a:rPr sz="1500" spc="0" dirty="0">
                <a:solidFill>
                  <a:srgbClr val="000000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u</a:t>
            </a:r>
            <a:r>
              <a:rPr sz="1500" spc="60" dirty="0">
                <a:solidFill>
                  <a:srgbClr val="000000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1500" spc="6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作业内容</a:t>
            </a:r>
            <a:r>
              <a:rPr sz="150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spc="6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sz="150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某班组将开展220</a:t>
            </a:r>
            <a:r>
              <a:rPr sz="15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kV</a:t>
            </a:r>
            <a:r>
              <a:rPr sz="150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sz="150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线主二</a:t>
            </a:r>
            <a:r>
              <a:rPr sz="150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</a:t>
            </a:r>
            <a:r>
              <a:rPr sz="15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护</a:t>
            </a:r>
            <a:r>
              <a:rPr sz="15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50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定值更改作</a:t>
            </a:r>
            <a:r>
              <a:rPr sz="150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</a:t>
            </a:r>
            <a:endParaRPr lang="en-US" altLang="en-US" sz="1500" dirty="0"/>
          </a:p>
          <a:p>
            <a:pPr marL="299720" indent="-272415" algn="l" rtl="0" eaLnBrk="0">
              <a:lnSpc>
                <a:spcPct val="106000"/>
              </a:lnSpc>
              <a:spcBef>
                <a:spcPts val="25"/>
              </a:spcBef>
            </a:pPr>
            <a:r>
              <a:rPr sz="1500" spc="0" dirty="0">
                <a:solidFill>
                  <a:srgbClr val="000000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u</a:t>
            </a:r>
            <a:r>
              <a:rPr sz="1500" spc="30" dirty="0">
                <a:solidFill>
                  <a:srgbClr val="000000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1500" spc="3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核查依据</a:t>
            </a:r>
            <a:r>
              <a:rPr sz="150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spc="3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sz="150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《作业导致设备故障典型场景清单</a:t>
            </a:r>
            <a:r>
              <a:rPr sz="150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》</a:t>
            </a:r>
            <a:r>
              <a:rPr sz="15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50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与现场勘查情</a:t>
            </a:r>
            <a:r>
              <a:rPr sz="150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况</a:t>
            </a:r>
            <a:endParaRPr lang="en-US" altLang="en-US" sz="1500" dirty="0"/>
          </a:p>
          <a:p>
            <a:pPr marL="27305" algn="l" rtl="0" eaLnBrk="0">
              <a:lnSpc>
                <a:spcPts val="2030"/>
              </a:lnSpc>
            </a:pPr>
            <a:r>
              <a:rPr sz="1500" spc="-50" dirty="0">
                <a:solidFill>
                  <a:srgbClr val="000000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u</a:t>
            </a:r>
            <a:r>
              <a:rPr sz="1500" spc="-70" dirty="0">
                <a:solidFill>
                  <a:srgbClr val="000000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1500" spc="-7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风险分析</a:t>
            </a:r>
            <a:r>
              <a:rPr sz="1500" spc="-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spc="-7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lang="en-US" altLang="en-US" sz="1500" dirty="0"/>
          </a:p>
          <a:p>
            <a:pPr marL="13970" indent="421005" algn="l" rtl="0" eaLnBrk="0">
              <a:lnSpc>
                <a:spcPct val="106000"/>
              </a:lnSpc>
              <a:spcBef>
                <a:spcPts val="20"/>
              </a:spcBef>
            </a:pPr>
            <a:r>
              <a:rPr sz="1500" spc="1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1.评估双重化配置的220</a:t>
            </a:r>
            <a:r>
              <a:rPr sz="15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kV</a:t>
            </a:r>
            <a:r>
              <a:rPr sz="1500" spc="1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sz="1500" spc="1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线保护装</a:t>
            </a:r>
            <a:r>
              <a:rPr sz="1500" spc="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置</a:t>
            </a:r>
            <a:r>
              <a:rPr sz="15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</a:t>
            </a:r>
            <a:r>
              <a:rPr sz="15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50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行状态</a:t>
            </a:r>
            <a:r>
              <a:rPr sz="150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lang="en-US" altLang="en-US" sz="1500" dirty="0"/>
          </a:p>
          <a:p>
            <a:pPr marL="12700" indent="414655" algn="l" rtl="0" eaLnBrk="0">
              <a:lnSpc>
                <a:spcPct val="110000"/>
              </a:lnSpc>
              <a:spcBef>
                <a:spcPts val="50"/>
              </a:spcBef>
            </a:pPr>
            <a:r>
              <a:rPr sz="1500" spc="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2.查询设备异常记录</a:t>
            </a:r>
            <a:r>
              <a:rPr sz="1500" spc="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spc="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，发现220</a:t>
            </a:r>
            <a:r>
              <a:rPr sz="15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kV</a:t>
            </a:r>
            <a:r>
              <a:rPr sz="1500" spc="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sz="1500" spc="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线主</a:t>
            </a:r>
            <a:r>
              <a:rPr sz="150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</a:t>
            </a:r>
            <a:r>
              <a:rPr sz="15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50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保护因缺陷退出运行</a:t>
            </a:r>
            <a:r>
              <a:rPr sz="150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，本次作业采取的管控措</a:t>
            </a:r>
            <a:r>
              <a:rPr sz="150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施</a:t>
            </a:r>
            <a:r>
              <a:rPr sz="15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50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</a:t>
            </a:r>
            <a:r>
              <a:rPr sz="150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sz="1500" spc="60" dirty="0">
                <a:ln w="3175" cap="flat" cmpd="sng">
                  <a:solidFill>
                    <a:srgbClr val="FF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暂不开展220</a:t>
            </a:r>
            <a:r>
              <a:rPr sz="1500" spc="0" dirty="0">
                <a:ln w="3175" cap="flat" cmpd="sng">
                  <a:solidFill>
                    <a:srgbClr val="FF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kV</a:t>
            </a:r>
            <a:r>
              <a:rPr sz="1500" spc="6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spc="0" dirty="0">
                <a:ln w="3175" cap="flat" cmpd="sng">
                  <a:solidFill>
                    <a:srgbClr val="FF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sz="1500" spc="60" dirty="0">
                <a:ln w="3175" cap="flat" cmpd="sng">
                  <a:solidFill>
                    <a:srgbClr val="FF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线主二保护定值更改作业</a:t>
            </a:r>
            <a:r>
              <a:rPr sz="1500" spc="0" dirty="0">
                <a:ln w="3175" cap="flat" cmpd="sng">
                  <a:solidFill>
                    <a:srgbClr val="FF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en-US" sz="1500" dirty="0"/>
          </a:p>
        </p:txBody>
      </p:sp>
      <p:pic>
        <p:nvPicPr>
          <p:cNvPr id="181" name="picture 18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768096" y="4901183"/>
            <a:ext cx="5558027" cy="1415796"/>
          </a:xfrm>
          <a:prstGeom prst="rect">
            <a:avLst/>
          </a:prstGeom>
        </p:spPr>
      </p:pic>
      <p:sp>
        <p:nvSpPr>
          <p:cNvPr id="182" name="textbox 182"/>
          <p:cNvSpPr/>
          <p:nvPr/>
        </p:nvSpPr>
        <p:spPr>
          <a:xfrm>
            <a:off x="803706" y="944981"/>
            <a:ext cx="7640955" cy="42799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3165"/>
              </a:lnSpc>
            </a:pPr>
            <a:r>
              <a:rPr sz="2300" spc="70" dirty="0">
                <a:ln w="6350" cap="flat" cmpd="sng">
                  <a:solidFill>
                    <a:srgbClr val="FF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作业风险协同管控</a:t>
            </a:r>
            <a:r>
              <a:rPr sz="2300" spc="7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300" spc="70" dirty="0">
                <a:ln w="6350" cap="flat" cmpd="sng">
                  <a:solidFill>
                    <a:srgbClr val="FF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sz="2300" spc="70" dirty="0">
                <a:ln w="6350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联动设备风险的作业风险辨识与评</a:t>
            </a:r>
            <a:r>
              <a:rPr sz="2300" spc="30" dirty="0">
                <a:ln w="6350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估</a:t>
            </a:r>
            <a:endParaRPr lang="en-US" altLang="en-US" sz="2300" dirty="0"/>
          </a:p>
        </p:txBody>
      </p:sp>
      <p:sp>
        <p:nvSpPr>
          <p:cNvPr id="183" name="textbox 183"/>
          <p:cNvSpPr/>
          <p:nvPr/>
        </p:nvSpPr>
        <p:spPr>
          <a:xfrm>
            <a:off x="128051" y="108317"/>
            <a:ext cx="6108700" cy="49403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87325" algn="l" rtl="0" eaLnBrk="0">
              <a:lnSpc>
                <a:spcPts val="3685"/>
              </a:lnSpc>
            </a:pPr>
            <a:r>
              <a:rPr sz="2700" spc="20" dirty="0">
                <a:ln w="6350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(六)</a:t>
            </a:r>
            <a:r>
              <a:rPr sz="270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spc="20" dirty="0">
                <a:ln w="6350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加强电网、</a:t>
            </a:r>
            <a:r>
              <a:rPr sz="270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700" spc="0" dirty="0">
                <a:ln w="6350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设备、</a:t>
            </a:r>
            <a:r>
              <a:rPr sz="27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700" spc="0" dirty="0">
                <a:ln w="6350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作业风险协同</a:t>
            </a:r>
            <a:endParaRPr lang="en-US" altLang="en-US" sz="2700" dirty="0"/>
          </a:p>
        </p:txBody>
      </p:sp>
      <p:graphicFrame>
        <p:nvGraphicFramePr>
          <p:cNvPr id="184" name="table 184"/>
          <p:cNvGraphicFramePr>
            <a:graphicFrameLocks noGrp="1"/>
          </p:cNvGraphicFramePr>
          <p:nvPr/>
        </p:nvGraphicFramePr>
        <p:xfrm>
          <a:off x="1905317" y="1719262"/>
          <a:ext cx="2600325" cy="427354"/>
        </p:xfrm>
        <a:graphic>
          <a:graphicData uri="http://schemas.openxmlformats.org/drawingml/2006/table">
            <a:tbl>
              <a:tblPr/>
              <a:tblGrid>
                <a:gridCol w="2600325"/>
              </a:tblGrid>
              <a:tr h="39877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600" dirty="0"/>
                    </a:p>
                    <a:p>
                      <a:pPr marL="683895" algn="l" rtl="0" eaLnBrk="0">
                        <a:lnSpc>
                          <a:spcPct val="91000"/>
                        </a:lnSpc>
                        <a:spcBef>
                          <a:spcPts val="5"/>
                        </a:spcBef>
                      </a:pPr>
                      <a:r>
                        <a:rPr sz="2000" spc="0" dirty="0">
                          <a:ln w="3175" cap="flat" cmpd="sng">
                            <a:solidFill>
                              <a:srgbClr val="FFFFFF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典</a:t>
                      </a:r>
                      <a:r>
                        <a:rPr sz="200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000" spc="0" dirty="0">
                          <a:ln w="3175" cap="flat" cmpd="sng">
                            <a:solidFill>
                              <a:srgbClr val="FFFFFF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型</a:t>
                      </a:r>
                      <a:r>
                        <a:rPr sz="200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000" spc="0" dirty="0">
                          <a:ln w="3175" cap="flat" cmpd="sng">
                            <a:solidFill>
                              <a:srgbClr val="FFFFFF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案</a:t>
                      </a:r>
                      <a:r>
                        <a:rPr sz="200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000" spc="0" dirty="0">
                          <a:ln w="3175" cap="flat" cmpd="sng">
                            <a:solidFill>
                              <a:srgbClr val="FFFFFF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例</a:t>
                      </a:r>
                      <a:endParaRPr lang="en-US" altLang="en-US" sz="2000" dirty="0"/>
                    </a:p>
                  </a:txBody>
                  <a:tcPr marL="0" marR="0" marT="0" marB="0" vert="horz">
                    <a:lnL w="2857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</a:tr>
            </a:tbl>
          </a:graphicData>
        </a:graphic>
      </p:graphicFrame>
      <p:pic>
        <p:nvPicPr>
          <p:cNvPr id="185" name="picture 18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0" y="650151"/>
            <a:ext cx="12192000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6" name="table 186"/>
          <p:cNvGraphicFramePr>
            <a:graphicFrameLocks noGrp="1"/>
          </p:cNvGraphicFramePr>
          <p:nvPr/>
        </p:nvGraphicFramePr>
        <p:xfrm>
          <a:off x="7166609" y="1692909"/>
          <a:ext cx="4050665" cy="4684395"/>
        </p:xfrm>
        <a:graphic>
          <a:graphicData uri="http://schemas.openxmlformats.org/drawingml/2006/table">
            <a:tbl>
              <a:tblPr/>
              <a:tblGrid>
                <a:gridCol w="4050665"/>
              </a:tblGrid>
              <a:tr h="467169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</a:pPr>
                      <a:endParaRPr lang="en-US" altLang="en-US" sz="200" dirty="0"/>
                    </a:p>
                    <a:p>
                      <a:pPr marL="102870" indent="451485" algn="l" rtl="0" eaLnBrk="0">
                        <a:lnSpc>
                          <a:spcPct val="150000"/>
                        </a:lnSpc>
                      </a:pPr>
                      <a:r>
                        <a:rPr sz="200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运维单位计划管理人员</a:t>
                      </a:r>
                      <a:r>
                        <a:rPr sz="2000" spc="6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统筹</a:t>
                      </a:r>
                      <a:r>
                        <a:rPr sz="2000" spc="1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协</a:t>
                      </a:r>
                      <a:r>
                        <a:rPr sz="2000" spc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000" spc="13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调</a:t>
                      </a:r>
                      <a:r>
                        <a:rPr sz="200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各班组停电和不停电</a:t>
                      </a:r>
                      <a:r>
                        <a:rPr sz="2000" spc="13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作业计</a:t>
                      </a:r>
                      <a:r>
                        <a:rPr sz="2000" spc="11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划</a:t>
                      </a:r>
                      <a:r>
                        <a:rPr sz="2000" spc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,</a:t>
                      </a:r>
                      <a:r>
                        <a:rPr sz="2000" spc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00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同一站点同一设备存在</a:t>
                      </a:r>
                      <a:r>
                        <a:rPr sz="2000" spc="2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多专业、</a:t>
                      </a:r>
                      <a:r>
                        <a:rPr sz="2000" spc="1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多</a:t>
                      </a:r>
                      <a:r>
                        <a:rPr sz="2000" spc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000" spc="-2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部门的作业计划协同配合</a:t>
                      </a:r>
                      <a:r>
                        <a:rPr sz="2000" spc="-2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000" spc="-2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，在作</a:t>
                      </a:r>
                      <a:r>
                        <a:rPr sz="2000" spc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业</a:t>
                      </a:r>
                      <a:r>
                        <a:rPr sz="2000" spc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000" spc="2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时间、空间等维度合理优化</a:t>
                      </a:r>
                      <a:r>
                        <a:rPr sz="200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。作</a:t>
                      </a:r>
                      <a:r>
                        <a:rPr sz="200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业</a:t>
                      </a:r>
                      <a:r>
                        <a:rPr sz="20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00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计划的编制充分评估</a:t>
                      </a:r>
                      <a:r>
                        <a:rPr sz="2000" spc="2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各专业间交</a:t>
                      </a:r>
                      <a:r>
                        <a:rPr sz="2000" spc="1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叉</a:t>
                      </a:r>
                      <a:r>
                        <a:rPr sz="2000" spc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000" spc="-2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风险</a:t>
                      </a:r>
                      <a:r>
                        <a:rPr sz="2000" spc="-2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00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，针对风险</a:t>
                      </a:r>
                      <a:r>
                        <a:rPr sz="2000" spc="-2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制定防范措施和</a:t>
                      </a:r>
                      <a:r>
                        <a:rPr sz="2000" spc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管</a:t>
                      </a:r>
                      <a:r>
                        <a:rPr sz="2000" spc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000" spc="2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控要求</a:t>
                      </a:r>
                      <a:r>
                        <a:rPr sz="200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。充分考虑各专业班组</a:t>
                      </a:r>
                      <a:r>
                        <a:rPr sz="2000" spc="2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作</a:t>
                      </a:r>
                      <a:r>
                        <a:rPr sz="2000" spc="1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业</a:t>
                      </a:r>
                      <a:r>
                        <a:rPr sz="2000" spc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000" spc="-6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饱和度</a:t>
                      </a:r>
                      <a:r>
                        <a:rPr sz="2000" spc="-6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00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，合理控制工作节奏</a:t>
                      </a:r>
                      <a:r>
                        <a:rPr sz="200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00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</a:t>
                      </a:r>
                      <a:r>
                        <a:rPr sz="20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防范</a:t>
                      </a:r>
                      <a:r>
                        <a:rPr sz="20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00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跨专</a:t>
                      </a:r>
                      <a:r>
                        <a:rPr sz="20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业作业风险。</a:t>
                      </a:r>
                      <a:endParaRPr lang="en-US" altLang="en-US" sz="2000" dirty="0"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87" name="table 187"/>
          <p:cNvGraphicFramePr>
            <a:graphicFrameLocks noGrp="1"/>
          </p:cNvGraphicFramePr>
          <p:nvPr/>
        </p:nvGraphicFramePr>
        <p:xfrm>
          <a:off x="1118235" y="1692909"/>
          <a:ext cx="4050665" cy="4683759"/>
        </p:xfrm>
        <a:graphic>
          <a:graphicData uri="http://schemas.openxmlformats.org/drawingml/2006/table">
            <a:tbl>
              <a:tblPr/>
              <a:tblGrid>
                <a:gridCol w="4050665"/>
              </a:tblGrid>
              <a:tr h="46710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14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14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14000"/>
                        </a:lnSpc>
                      </a:pPr>
                      <a:endParaRPr lang="en-US" altLang="en-US" sz="1000" dirty="0"/>
                    </a:p>
                    <a:p>
                      <a:pPr marL="102235" indent="377825" algn="l" rtl="0" eaLnBrk="0">
                        <a:lnSpc>
                          <a:spcPct val="150000"/>
                        </a:lnSpc>
                        <a:spcBef>
                          <a:spcPts val="5"/>
                        </a:spcBef>
                      </a:pPr>
                      <a:r>
                        <a:rPr sz="200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综合考虑一、</a:t>
                      </a:r>
                      <a:r>
                        <a:rPr sz="200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</a:t>
                      </a:r>
                      <a:r>
                        <a:rPr sz="200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二次专业协同</a:t>
                      </a:r>
                      <a:r>
                        <a:rPr sz="20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及</a:t>
                      </a:r>
                      <a:r>
                        <a:rPr sz="20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00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各二次专业的计划协同</a:t>
                      </a:r>
                      <a:r>
                        <a:rPr sz="200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00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，提前梳</a:t>
                      </a:r>
                      <a:r>
                        <a:rPr sz="20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理</a:t>
                      </a:r>
                      <a:r>
                        <a:rPr sz="20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00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作业计划安排</a:t>
                      </a:r>
                      <a:r>
                        <a:rPr sz="200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00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，充分考虑班组饱</a:t>
                      </a:r>
                      <a:r>
                        <a:rPr sz="20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和</a:t>
                      </a:r>
                      <a:r>
                        <a:rPr sz="20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00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度</a:t>
                      </a:r>
                      <a:r>
                        <a:rPr sz="200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00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，对各项作业计划做到“心中</a:t>
                      </a:r>
                      <a:r>
                        <a:rPr sz="20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有</a:t>
                      </a:r>
                      <a:r>
                        <a:rPr sz="20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00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数”</a:t>
                      </a:r>
                      <a:r>
                        <a:rPr sz="200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00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，提高作业计划</a:t>
                      </a:r>
                      <a:r>
                        <a:rPr sz="20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的可执行性</a:t>
                      </a:r>
                      <a:r>
                        <a:rPr sz="20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0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</a:t>
                      </a:r>
                      <a:r>
                        <a:rPr sz="20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00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合</a:t>
                      </a:r>
                      <a:r>
                        <a:rPr sz="20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理管控工作节奏。</a:t>
                      </a:r>
                      <a:endParaRPr lang="en-US" altLang="en-US" sz="2000" dirty="0"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8" name="textbox 188"/>
          <p:cNvSpPr/>
          <p:nvPr/>
        </p:nvSpPr>
        <p:spPr>
          <a:xfrm>
            <a:off x="128051" y="108317"/>
            <a:ext cx="4330700" cy="49403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87325" algn="l" rtl="0" eaLnBrk="0">
              <a:lnSpc>
                <a:spcPts val="3685"/>
              </a:lnSpc>
            </a:pPr>
            <a:r>
              <a:rPr sz="2700" spc="230" dirty="0">
                <a:ln w="6350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(七)</a:t>
            </a:r>
            <a:r>
              <a:rPr sz="2700" spc="2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spc="230" dirty="0">
                <a:ln w="6350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加强多专业计划协</a:t>
            </a:r>
            <a:r>
              <a:rPr sz="2700" spc="150" dirty="0">
                <a:ln w="6350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</a:t>
            </a:r>
            <a:endParaRPr lang="en-US" altLang="en-US" sz="2700" dirty="0"/>
          </a:p>
        </p:txBody>
      </p:sp>
      <p:sp>
        <p:nvSpPr>
          <p:cNvPr id="189" name="path"/>
          <p:cNvSpPr/>
          <p:nvPr/>
        </p:nvSpPr>
        <p:spPr>
          <a:xfrm>
            <a:off x="5510783" y="3573779"/>
            <a:ext cx="1315212" cy="752855"/>
          </a:xfrm>
          <a:custGeom>
            <a:avLst/>
            <a:gdLst/>
            <a:ahLst/>
            <a:cxnLst/>
            <a:rect l="0" t="0" r="0" b="0"/>
            <a:pathLst>
              <a:path w="2071" h="1185">
                <a:moveTo>
                  <a:pt x="626" y="0"/>
                </a:moveTo>
                <a:lnTo>
                  <a:pt x="1036" y="0"/>
                </a:lnTo>
                <a:lnTo>
                  <a:pt x="1444" y="592"/>
                </a:lnTo>
                <a:lnTo>
                  <a:pt x="1036" y="1185"/>
                </a:lnTo>
                <a:lnTo>
                  <a:pt x="626" y="1185"/>
                </a:lnTo>
                <a:lnTo>
                  <a:pt x="1036" y="592"/>
                </a:lnTo>
                <a:lnTo>
                  <a:pt x="626" y="0"/>
                </a:lnTo>
              </a:path>
              <a:path w="2071" h="1185">
                <a:moveTo>
                  <a:pt x="0" y="0"/>
                </a:moveTo>
                <a:lnTo>
                  <a:pt x="410" y="0"/>
                </a:lnTo>
                <a:lnTo>
                  <a:pt x="820" y="592"/>
                </a:lnTo>
                <a:lnTo>
                  <a:pt x="410" y="1185"/>
                </a:lnTo>
                <a:lnTo>
                  <a:pt x="0" y="1185"/>
                </a:lnTo>
                <a:lnTo>
                  <a:pt x="410" y="592"/>
                </a:lnTo>
                <a:lnTo>
                  <a:pt x="0" y="0"/>
                </a:lnTo>
              </a:path>
              <a:path w="2071" h="1185">
                <a:moveTo>
                  <a:pt x="1250" y="0"/>
                </a:moveTo>
                <a:lnTo>
                  <a:pt x="1660" y="0"/>
                </a:lnTo>
                <a:lnTo>
                  <a:pt x="2071" y="592"/>
                </a:lnTo>
                <a:lnTo>
                  <a:pt x="1660" y="1185"/>
                </a:lnTo>
                <a:lnTo>
                  <a:pt x="1250" y="1185"/>
                </a:lnTo>
                <a:lnTo>
                  <a:pt x="1660" y="592"/>
                </a:lnTo>
                <a:lnTo>
                  <a:pt x="1250" y="0"/>
                </a:lnTo>
              </a:path>
            </a:pathLst>
          </a:custGeom>
          <a:solidFill>
            <a:srgbClr val="5B9BD5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190" name="table 190"/>
          <p:cNvGraphicFramePr>
            <a:graphicFrameLocks noGrp="1"/>
          </p:cNvGraphicFramePr>
          <p:nvPr/>
        </p:nvGraphicFramePr>
        <p:xfrm>
          <a:off x="1977707" y="1318577"/>
          <a:ext cx="2225675" cy="426720"/>
        </p:xfrm>
        <a:graphic>
          <a:graphicData uri="http://schemas.openxmlformats.org/drawingml/2006/table">
            <a:tbl>
              <a:tblPr/>
              <a:tblGrid>
                <a:gridCol w="2225675"/>
              </a:tblGrid>
              <a:tr h="39814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lang="en-US" altLang="en-US" sz="500" dirty="0"/>
                    </a:p>
                    <a:p>
                      <a:pPr marL="673100" algn="l" rtl="0" eaLnBrk="0">
                        <a:lnSpc>
                          <a:spcPct val="91000"/>
                        </a:lnSpc>
                        <a:spcBef>
                          <a:spcPts val="5"/>
                        </a:spcBef>
                      </a:pPr>
                      <a:r>
                        <a:rPr sz="2000" spc="10" dirty="0">
                          <a:ln w="3175" cap="flat" cmpd="sng">
                            <a:solidFill>
                              <a:srgbClr val="FFFFFF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原</a:t>
                      </a:r>
                      <a:r>
                        <a:rPr sz="200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00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</a:t>
                      </a:r>
                      <a:r>
                        <a:rPr sz="2000" spc="0" dirty="0">
                          <a:ln w="3175" cap="flat" cmpd="sng">
                            <a:solidFill>
                              <a:srgbClr val="FFFFFF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文</a:t>
                      </a:r>
                      <a:endParaRPr lang="en-US" altLang="en-US" sz="2000" dirty="0"/>
                    </a:p>
                  </a:txBody>
                  <a:tcPr marL="0" marR="0" marT="0" marB="0" vert="horz">
                    <a:lnL w="2857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1" name="table 191"/>
          <p:cNvGraphicFramePr>
            <a:graphicFrameLocks noGrp="1"/>
          </p:cNvGraphicFramePr>
          <p:nvPr/>
        </p:nvGraphicFramePr>
        <p:xfrm>
          <a:off x="8097837" y="1318577"/>
          <a:ext cx="2073275" cy="426720"/>
        </p:xfrm>
        <a:graphic>
          <a:graphicData uri="http://schemas.openxmlformats.org/drawingml/2006/table">
            <a:tbl>
              <a:tblPr/>
              <a:tblGrid>
                <a:gridCol w="2073275"/>
              </a:tblGrid>
              <a:tr h="39814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600" dirty="0"/>
                    </a:p>
                    <a:p>
                      <a:pPr marL="521970" algn="l" rtl="0" eaLnBrk="0">
                        <a:lnSpc>
                          <a:spcPct val="91000"/>
                        </a:lnSpc>
                        <a:spcBef>
                          <a:spcPts val="5"/>
                        </a:spcBef>
                      </a:pPr>
                      <a:r>
                        <a:rPr sz="2000" spc="10" dirty="0">
                          <a:ln w="3175" cap="flat" cmpd="sng">
                            <a:solidFill>
                              <a:srgbClr val="FFFFFF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释</a:t>
                      </a:r>
                      <a:r>
                        <a:rPr sz="200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00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</a:t>
                      </a:r>
                      <a:r>
                        <a:rPr sz="2000" spc="0" dirty="0">
                          <a:ln w="3175" cap="flat" cmpd="sng">
                            <a:solidFill>
                              <a:srgbClr val="FFFFFF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义</a:t>
                      </a:r>
                      <a:endParaRPr lang="en-US" altLang="en-US" sz="2000" dirty="0"/>
                    </a:p>
                  </a:txBody>
                  <a:tcPr marL="0" marR="0" marT="0" marB="0" vert="horz">
                    <a:lnL w="2857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</a:tr>
            </a:tbl>
          </a:graphicData>
        </a:graphic>
      </p:graphicFrame>
      <p:pic>
        <p:nvPicPr>
          <p:cNvPr id="192" name="picture 19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650151"/>
            <a:ext cx="12192000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3" name="table 193"/>
          <p:cNvGraphicFramePr>
            <a:graphicFrameLocks noGrp="1"/>
          </p:cNvGraphicFramePr>
          <p:nvPr/>
        </p:nvGraphicFramePr>
        <p:xfrm>
          <a:off x="365556" y="1802765"/>
          <a:ext cx="3702050" cy="4727575"/>
        </p:xfrm>
        <a:graphic>
          <a:graphicData uri="http://schemas.openxmlformats.org/drawingml/2006/table">
            <a:tbl>
              <a:tblPr/>
              <a:tblGrid>
                <a:gridCol w="3702050"/>
              </a:tblGrid>
              <a:tr h="47148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lang="en-US" altLang="en-US" sz="800" dirty="0"/>
                    </a:p>
                    <a:p>
                      <a:pPr marL="444500" indent="-326390" algn="l" rtl="0" eaLnBrk="0">
                        <a:lnSpc>
                          <a:spcPct val="122000"/>
                        </a:lnSpc>
                        <a:spcBef>
                          <a:spcPts val="5"/>
                        </a:spcBef>
                      </a:pP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Wingdings" panose="05000000000000000000"/>
                          <a:ea typeface="Wingdings" panose="05000000000000000000"/>
                          <a:cs typeface="Wingdings" panose="05000000000000000000"/>
                        </a:rPr>
                        <a:t>p</a:t>
                      </a:r>
                      <a:r>
                        <a:rPr sz="150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Wingdings" panose="05000000000000000000"/>
                          <a:ea typeface="Wingdings" panose="05000000000000000000"/>
                          <a:cs typeface="Wingdings" panose="05000000000000000000"/>
                        </a:rPr>
                        <a:t> </a:t>
                      </a:r>
                      <a:r>
                        <a:rPr sz="1500" spc="10" dirty="0">
                          <a:ln w="3175" cap="flat" cmpd="sng">
                            <a:solidFill>
                              <a:srgbClr val="FF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每月召开专题会议</a:t>
                      </a:r>
                      <a:r>
                        <a:rPr sz="1500" spc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，协调电网、</a:t>
                      </a: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</a:t>
                      </a: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设</a:t>
                      </a: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</a:t>
                      </a:r>
                      <a:r>
                        <a:rPr sz="150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备、</a:t>
                      </a:r>
                      <a:r>
                        <a:rPr sz="150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</a:t>
                      </a:r>
                      <a:r>
                        <a:rPr sz="150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作业风险管</a:t>
                      </a: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控、</a:t>
                      </a: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</a:t>
                      </a: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综合停电管理</a:t>
                      </a: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</a:t>
                      </a:r>
                      <a:r>
                        <a:rPr sz="150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等工作</a:t>
                      </a:r>
                      <a:r>
                        <a:rPr sz="150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50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</a:t>
                      </a:r>
                      <a:r>
                        <a:rPr sz="1500" spc="60" dirty="0">
                          <a:ln w="3175" cap="flat" cmpd="sng">
                            <a:solidFill>
                              <a:srgbClr val="FF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确定月度生产计</a:t>
                      </a:r>
                      <a:r>
                        <a:rPr sz="1500" spc="20" dirty="0">
                          <a:ln w="3175" cap="flat" cmpd="sng">
                            <a:solidFill>
                              <a:srgbClr val="FF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划</a:t>
                      </a:r>
                      <a:endParaRPr lang="en-US" altLang="en-US" sz="1500" dirty="0"/>
                    </a:p>
                    <a:p>
                      <a:pPr marL="571500" indent="-453390" algn="l" rtl="0" eaLnBrk="0">
                        <a:lnSpc>
                          <a:spcPct val="117000"/>
                        </a:lnSpc>
                        <a:spcBef>
                          <a:spcPts val="590"/>
                        </a:spcBef>
                      </a:pP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Wingdings" panose="05000000000000000000"/>
                          <a:ea typeface="Wingdings" panose="05000000000000000000"/>
                          <a:cs typeface="Wingdings" panose="05000000000000000000"/>
                        </a:rPr>
                        <a:t>p</a:t>
                      </a:r>
                      <a:r>
                        <a:rPr sz="150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Wingdings" panose="05000000000000000000"/>
                          <a:ea typeface="Wingdings" panose="05000000000000000000"/>
                          <a:cs typeface="Wingdings" panose="05000000000000000000"/>
                        </a:rPr>
                        <a:t> </a:t>
                      </a:r>
                      <a:r>
                        <a:rPr sz="150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对</a:t>
                      </a:r>
                      <a:r>
                        <a:rPr sz="1500" spc="10" dirty="0">
                          <a:ln w="3175" cap="flat" cmpd="sng">
                            <a:solidFill>
                              <a:srgbClr val="FF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多专业、</a:t>
                      </a:r>
                      <a:r>
                        <a:rPr sz="1500" spc="1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</a:t>
                      </a:r>
                      <a:r>
                        <a:rPr sz="1500" spc="10" dirty="0">
                          <a:ln w="3175" cap="flat" cmpd="sng">
                            <a:solidFill>
                              <a:srgbClr val="FF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多</a:t>
                      </a:r>
                      <a:r>
                        <a:rPr sz="1500" spc="0" dirty="0">
                          <a:ln w="3175" cap="flat" cmpd="sng">
                            <a:solidFill>
                              <a:srgbClr val="FF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班组交叉作业</a:t>
                      </a:r>
                      <a:r>
                        <a:rPr sz="1500" spc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，设置</a:t>
                      </a: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</a:t>
                      </a:r>
                      <a:r>
                        <a:rPr sz="150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“统筹工作组”</a:t>
                      </a:r>
                      <a:r>
                        <a:rPr sz="150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50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，编制交</a:t>
                      </a: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叉作业风</a:t>
                      </a:r>
                      <a:endParaRPr lang="en-US" altLang="en-US" sz="1500" dirty="0"/>
                    </a:p>
                    <a:p>
                      <a:pPr marL="446405" indent="10160" algn="l" rtl="0" eaLnBrk="0">
                        <a:lnSpc>
                          <a:spcPct val="133000"/>
                        </a:lnSpc>
                        <a:spcBef>
                          <a:spcPts val="15"/>
                        </a:spcBef>
                      </a:pPr>
                      <a:r>
                        <a:rPr sz="150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险管控方案</a:t>
                      </a:r>
                      <a:r>
                        <a:rPr sz="150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50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，在作业</a:t>
                      </a:r>
                      <a:r>
                        <a:rPr sz="1500" spc="20" dirty="0">
                          <a:ln w="3175" cap="flat" cmpd="sng">
                            <a:solidFill>
                              <a:srgbClr val="FF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时间、</a:t>
                      </a:r>
                      <a:r>
                        <a:rPr sz="1500" spc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</a:t>
                      </a:r>
                      <a:r>
                        <a:rPr sz="1500" spc="0" dirty="0">
                          <a:ln w="3175" cap="flat" cmpd="sng">
                            <a:solidFill>
                              <a:srgbClr val="FF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空间等</a:t>
                      </a:r>
                      <a:r>
                        <a:rPr sz="1500" spc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</a:t>
                      </a:r>
                      <a:r>
                        <a:rPr sz="1500" spc="90" dirty="0">
                          <a:ln w="3175" cap="flat" cmpd="sng">
                            <a:solidFill>
                              <a:srgbClr val="FF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维度</a:t>
                      </a:r>
                      <a:r>
                        <a:rPr sz="150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协同配合</a:t>
                      </a:r>
                      <a:r>
                        <a:rPr sz="150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。</a:t>
                      </a:r>
                      <a:endParaRPr lang="en-US" altLang="en-US" sz="1500" dirty="0"/>
                    </a:p>
                    <a:p>
                      <a:pPr marL="446405" indent="-328295" algn="l" rtl="0" eaLnBrk="0">
                        <a:lnSpc>
                          <a:spcPct val="127000"/>
                        </a:lnSpc>
                        <a:spcBef>
                          <a:spcPts val="570"/>
                        </a:spcBef>
                      </a:pP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Wingdings" panose="05000000000000000000"/>
                          <a:ea typeface="Wingdings" panose="05000000000000000000"/>
                          <a:cs typeface="Wingdings" panose="05000000000000000000"/>
                        </a:rPr>
                        <a:t>p</a:t>
                      </a:r>
                      <a:r>
                        <a:rPr sz="150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Wingdings" panose="05000000000000000000"/>
                          <a:ea typeface="Wingdings" panose="05000000000000000000"/>
                          <a:cs typeface="Wingdings" panose="05000000000000000000"/>
                        </a:rPr>
                        <a:t> </a:t>
                      </a:r>
                      <a:r>
                        <a:rPr sz="150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通过作业计划分解平衡</a:t>
                      </a:r>
                      <a:r>
                        <a:rPr sz="150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50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</a:t>
                      </a:r>
                      <a:r>
                        <a:rPr sz="1500" spc="60" dirty="0">
                          <a:ln w="3175" cap="flat" cmpd="sng">
                            <a:solidFill>
                              <a:srgbClr val="FF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合理调</a:t>
                      </a:r>
                      <a:r>
                        <a:rPr sz="1500" spc="20" dirty="0">
                          <a:ln w="3175" cap="flat" cmpd="sng">
                            <a:solidFill>
                              <a:srgbClr val="FF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配</a:t>
                      </a:r>
                      <a:r>
                        <a:rPr sz="1500" spc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</a:t>
                      </a:r>
                      <a:r>
                        <a:rPr sz="1500" spc="20" dirty="0">
                          <a:ln w="3175" cap="flat" cmpd="sng">
                            <a:solidFill>
                              <a:srgbClr val="FF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作业资源</a:t>
                      </a:r>
                      <a:r>
                        <a:rPr sz="1500" spc="2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500" spc="20" dirty="0">
                          <a:ln w="3175" cap="flat" cmpd="sng">
                            <a:solidFill>
                              <a:srgbClr val="FF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，管控工作节奏</a:t>
                      </a:r>
                      <a:r>
                        <a:rPr sz="150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。</a:t>
                      </a:r>
                      <a:r>
                        <a:rPr sz="150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</a:t>
                      </a:r>
                      <a:r>
                        <a:rPr sz="150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月度</a:t>
                      </a:r>
                      <a:r>
                        <a:rPr sz="150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作</a:t>
                      </a: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</a:t>
                      </a:r>
                      <a:r>
                        <a:rPr sz="150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业计划平衡时应遵循</a:t>
                      </a:r>
                      <a:r>
                        <a:rPr sz="1500" spc="80" dirty="0">
                          <a:ln w="3175" cap="flat" cmpd="sng">
                            <a:solidFill>
                              <a:srgbClr val="FF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“三个服从</a:t>
                      </a:r>
                      <a:r>
                        <a:rPr sz="1500" spc="70" dirty="0">
                          <a:ln w="3175" cap="flat" cmpd="sng">
                            <a:solidFill>
                              <a:srgbClr val="FF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”</a:t>
                      </a:r>
                      <a:r>
                        <a:rPr sz="1500" spc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</a:t>
                      </a: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50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杜绝</a:t>
                      </a:r>
                      <a:r>
                        <a:rPr sz="150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</a:t>
                      </a:r>
                      <a:r>
                        <a:rPr sz="150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“</a:t>
                      </a:r>
                      <a:r>
                        <a:rPr sz="1500" spc="60" dirty="0">
                          <a:ln w="3175" cap="flat" cmpd="sng">
                            <a:solidFill>
                              <a:srgbClr val="FF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两个不合理”</a:t>
                      </a:r>
                      <a:r>
                        <a:rPr sz="1500" spc="6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50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，严防</a:t>
                      </a:r>
                      <a:r>
                        <a:rPr sz="150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500" spc="0" dirty="0">
                          <a:ln w="3175" cap="flat" cmpd="sng">
                            <a:solidFill>
                              <a:srgbClr val="FF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“三</a:t>
                      </a:r>
                      <a:r>
                        <a:rPr sz="1500" spc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</a:t>
                      </a:r>
                      <a:r>
                        <a:rPr sz="1500" spc="60" dirty="0">
                          <a:ln w="3175" cap="flat" cmpd="sng">
                            <a:solidFill>
                              <a:srgbClr val="FF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超”</a:t>
                      </a:r>
                      <a:r>
                        <a:rPr sz="150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。</a:t>
                      </a:r>
                      <a:endParaRPr lang="en-US" altLang="en-US" sz="1500" dirty="0"/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lang="en-US" altLang="en-US" sz="500" dirty="0"/>
                    </a:p>
                    <a:p>
                      <a:pPr marL="446405" indent="-328295" algn="l" rtl="0" eaLnBrk="0">
                        <a:lnSpc>
                          <a:spcPct val="122000"/>
                        </a:lnSpc>
                        <a:spcBef>
                          <a:spcPts val="0"/>
                        </a:spcBef>
                      </a:pP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Wingdings" panose="05000000000000000000"/>
                          <a:ea typeface="Wingdings" panose="05000000000000000000"/>
                          <a:cs typeface="Wingdings" panose="05000000000000000000"/>
                        </a:rPr>
                        <a:t>p</a:t>
                      </a:r>
                      <a:r>
                        <a:rPr sz="150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Wingdings" panose="05000000000000000000"/>
                          <a:ea typeface="Wingdings" panose="05000000000000000000"/>
                          <a:cs typeface="Wingdings" panose="05000000000000000000"/>
                        </a:rPr>
                        <a:t> </a:t>
                      </a:r>
                      <a:r>
                        <a:rPr sz="150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通过作业计划制定、分解过程</a:t>
                      </a:r>
                      <a:r>
                        <a:rPr sz="150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50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</a:t>
                      </a:r>
                      <a:r>
                        <a:rPr sz="150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推</a:t>
                      </a: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</a:t>
                      </a:r>
                      <a:r>
                        <a:rPr sz="150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进</a:t>
                      </a:r>
                      <a:r>
                        <a:rPr sz="1500" spc="50" dirty="0">
                          <a:ln w="3175" cap="flat" cmpd="sng">
                            <a:solidFill>
                              <a:srgbClr val="FF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基准、</a:t>
                      </a:r>
                      <a:r>
                        <a:rPr sz="1500" spc="5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</a:t>
                      </a:r>
                      <a:r>
                        <a:rPr sz="1500" spc="50" dirty="0">
                          <a:ln w="3175" cap="flat" cmpd="sng">
                            <a:solidFill>
                              <a:srgbClr val="FF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基于问题和持续作业</a:t>
                      </a:r>
                      <a:r>
                        <a:rPr sz="1500" spc="40" dirty="0">
                          <a:ln w="3175" cap="flat" cmpd="sng">
                            <a:solidFill>
                              <a:srgbClr val="FF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风</a:t>
                      </a:r>
                      <a:r>
                        <a:rPr sz="1500" spc="0" dirty="0">
                          <a:ln w="3175" cap="flat" cmpd="sng">
                            <a:solidFill>
                              <a:srgbClr val="FF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险</a:t>
                      </a:r>
                      <a:r>
                        <a:rPr sz="1500" spc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</a:t>
                      </a:r>
                      <a:r>
                        <a:rPr sz="1500" spc="60" dirty="0">
                          <a:ln w="3175" cap="flat" cmpd="sng">
                            <a:solidFill>
                              <a:srgbClr val="FF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评估</a:t>
                      </a:r>
                      <a:r>
                        <a:rPr sz="150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。</a:t>
                      </a:r>
                      <a:endParaRPr lang="en-US" altLang="en-US" sz="1500" dirty="0"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4" name="table 194"/>
          <p:cNvGraphicFramePr>
            <a:graphicFrameLocks noGrp="1"/>
          </p:cNvGraphicFramePr>
          <p:nvPr/>
        </p:nvGraphicFramePr>
        <p:xfrm>
          <a:off x="4307840" y="1836420"/>
          <a:ext cx="3702050" cy="4692650"/>
        </p:xfrm>
        <a:graphic>
          <a:graphicData uri="http://schemas.openxmlformats.org/drawingml/2006/table">
            <a:tbl>
              <a:tblPr/>
              <a:tblGrid>
                <a:gridCol w="3702050"/>
              </a:tblGrid>
              <a:tr h="46799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lang="en-US" altLang="en-US" sz="800" dirty="0"/>
                    </a:p>
                    <a:p>
                      <a:pPr marL="448945" indent="-330835" algn="l" rtl="0" eaLnBrk="0">
                        <a:lnSpc>
                          <a:spcPct val="125000"/>
                        </a:lnSpc>
                        <a:spcBef>
                          <a:spcPts val="0"/>
                        </a:spcBef>
                      </a:pP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Wingdings" panose="05000000000000000000"/>
                          <a:ea typeface="Wingdings" panose="05000000000000000000"/>
                          <a:cs typeface="Wingdings" panose="05000000000000000000"/>
                        </a:rPr>
                        <a:t>p</a:t>
                      </a:r>
                      <a:r>
                        <a:rPr sz="150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Wingdings" panose="05000000000000000000"/>
                          <a:ea typeface="Wingdings" panose="05000000000000000000"/>
                          <a:cs typeface="Wingdings" panose="05000000000000000000"/>
                        </a:rPr>
                        <a:t> </a:t>
                      </a:r>
                      <a:r>
                        <a:rPr sz="150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建立</a:t>
                      </a:r>
                      <a:r>
                        <a:rPr sz="1500" spc="60" dirty="0">
                          <a:ln w="3175" cap="flat" cmpd="sng">
                            <a:solidFill>
                              <a:srgbClr val="FF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生产计划沟通协调机制</a:t>
                      </a:r>
                      <a:r>
                        <a:rPr sz="1500" spc="6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50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，涉</a:t>
                      </a:r>
                      <a:r>
                        <a:rPr sz="150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及</a:t>
                      </a: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</a:t>
                      </a:r>
                      <a:r>
                        <a:rPr sz="150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二次专业作业计划</a:t>
                      </a:r>
                      <a:r>
                        <a:rPr sz="150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50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，设备维护部</a:t>
                      </a:r>
                      <a:r>
                        <a:rPr sz="150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门</a:t>
                      </a: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</a:t>
                      </a:r>
                      <a:r>
                        <a:rPr sz="150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专业专责、分管领导、</a:t>
                      </a:r>
                      <a:r>
                        <a:rPr sz="150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</a:t>
                      </a:r>
                      <a:r>
                        <a:rPr sz="150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专业管</a:t>
                      </a:r>
                      <a:r>
                        <a:rPr sz="150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理</a:t>
                      </a: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部</a:t>
                      </a: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</a:t>
                      </a:r>
                      <a:r>
                        <a:rPr sz="150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门</a:t>
                      </a:r>
                      <a:r>
                        <a:rPr sz="1500" spc="80" dirty="0">
                          <a:ln w="3175" cap="flat" cmpd="sng">
                            <a:solidFill>
                              <a:srgbClr val="FF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三级审核</a:t>
                      </a:r>
                      <a:r>
                        <a:rPr sz="150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。</a:t>
                      </a:r>
                      <a:endParaRPr lang="en-US" altLang="en-US" sz="1500" dirty="0"/>
                    </a:p>
                    <a:p>
                      <a:pPr marL="446405" indent="-328295" algn="l" rtl="0" eaLnBrk="0">
                        <a:lnSpc>
                          <a:spcPct val="128000"/>
                        </a:lnSpc>
                        <a:spcBef>
                          <a:spcPts val="590"/>
                        </a:spcBef>
                      </a:pP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Wingdings" panose="05000000000000000000"/>
                          <a:ea typeface="Wingdings" panose="05000000000000000000"/>
                          <a:cs typeface="Wingdings" panose="05000000000000000000"/>
                        </a:rPr>
                        <a:t>p</a:t>
                      </a:r>
                      <a:r>
                        <a:rPr sz="150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Wingdings" panose="05000000000000000000"/>
                          <a:ea typeface="Wingdings" panose="05000000000000000000"/>
                          <a:cs typeface="Wingdings" panose="05000000000000000000"/>
                        </a:rPr>
                        <a:t> </a:t>
                      </a:r>
                      <a:r>
                        <a:rPr sz="150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作业计划审核重点考虑电网方式</a:t>
                      </a:r>
                      <a:r>
                        <a:rPr sz="150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安</a:t>
                      </a: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</a:t>
                      </a:r>
                      <a:r>
                        <a:rPr sz="150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排、</a:t>
                      </a:r>
                      <a:r>
                        <a:rPr sz="150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</a:t>
                      </a:r>
                      <a:r>
                        <a:rPr sz="150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停电范围、</a:t>
                      </a:r>
                      <a:r>
                        <a:rPr sz="150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</a:t>
                      </a:r>
                      <a:r>
                        <a:rPr sz="1500" spc="-50" dirty="0">
                          <a:ln w="3175" cap="flat" cmpd="sng">
                            <a:solidFill>
                              <a:srgbClr val="FF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资源配置</a:t>
                      </a:r>
                      <a:r>
                        <a:rPr sz="150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</a:t>
                      </a:r>
                      <a:r>
                        <a:rPr sz="150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</a:t>
                      </a:r>
                      <a:r>
                        <a:rPr sz="150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风</a:t>
                      </a:r>
                      <a:r>
                        <a:rPr sz="150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险</a:t>
                      </a: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管</a:t>
                      </a: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</a:t>
                      </a:r>
                      <a:r>
                        <a:rPr sz="150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控、</a:t>
                      </a:r>
                      <a:r>
                        <a:rPr sz="150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</a:t>
                      </a:r>
                      <a:r>
                        <a:rPr sz="1500" spc="-10" dirty="0">
                          <a:ln w="3175" cap="flat" cmpd="sng">
                            <a:solidFill>
                              <a:srgbClr val="FF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作业饱和度</a:t>
                      </a:r>
                      <a:r>
                        <a:rPr sz="150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等</a:t>
                      </a: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。</a:t>
                      </a: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</a:t>
                      </a: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作业过程中人</a:t>
                      </a: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</a:t>
                      </a:r>
                      <a:r>
                        <a:rPr sz="150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员、</a:t>
                      </a:r>
                      <a:r>
                        <a:rPr sz="150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</a:t>
                      </a:r>
                      <a:r>
                        <a:rPr sz="150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作业环境、</a:t>
                      </a:r>
                      <a:r>
                        <a:rPr sz="150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</a:t>
                      </a:r>
                      <a:r>
                        <a:rPr sz="150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设备运行状态、</a:t>
                      </a:r>
                      <a:r>
                        <a:rPr sz="150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50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作</a:t>
                      </a: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</a:t>
                      </a:r>
                      <a:r>
                        <a:rPr sz="150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业阶段等情况</a:t>
                      </a:r>
                      <a:r>
                        <a:rPr sz="1500" spc="80" dirty="0">
                          <a:ln w="3175" cap="flat" cmpd="sng">
                            <a:solidFill>
                              <a:srgbClr val="FF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发生变化时</a:t>
                      </a:r>
                      <a:r>
                        <a:rPr sz="1500" spc="8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500" spc="80" dirty="0">
                          <a:ln w="3175" cap="flat" cmpd="sng">
                            <a:solidFill>
                              <a:srgbClr val="FF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，按相</a:t>
                      </a:r>
                      <a:r>
                        <a:rPr sz="1500" spc="30" dirty="0">
                          <a:ln w="3175" cap="flat" cmpd="sng">
                            <a:solidFill>
                              <a:srgbClr val="FF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应</a:t>
                      </a:r>
                      <a:r>
                        <a:rPr sz="1500" spc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</a:t>
                      </a:r>
                      <a:r>
                        <a:rPr sz="1500" spc="90" dirty="0">
                          <a:ln w="3175" cap="flat" cmpd="sng">
                            <a:solidFill>
                              <a:srgbClr val="FF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要求审核及报备</a:t>
                      </a:r>
                      <a:r>
                        <a:rPr sz="150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。</a:t>
                      </a:r>
                      <a:endParaRPr lang="en-US" altLang="en-US" sz="1500" dirty="0"/>
                    </a:p>
                    <a:p>
                      <a:pPr algn="l" rtl="0" eaLnBrk="0">
                        <a:lnSpc>
                          <a:spcPct val="121000"/>
                        </a:lnSpc>
                      </a:pPr>
                      <a:endParaRPr lang="en-US" altLang="en-US" sz="400" dirty="0"/>
                    </a:p>
                    <a:p>
                      <a:pPr marL="446405" indent="-328295" algn="l" rtl="0" eaLnBrk="0">
                        <a:lnSpc>
                          <a:spcPct val="126000"/>
                        </a:lnSpc>
                        <a:spcBef>
                          <a:spcPts val="5"/>
                        </a:spcBef>
                      </a:pP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Wingdings" panose="05000000000000000000"/>
                          <a:ea typeface="Wingdings" panose="05000000000000000000"/>
                          <a:cs typeface="Wingdings" panose="05000000000000000000"/>
                        </a:rPr>
                        <a:t>p</a:t>
                      </a:r>
                      <a:r>
                        <a:rPr sz="150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Wingdings" panose="05000000000000000000"/>
                          <a:ea typeface="Wingdings" panose="05000000000000000000"/>
                          <a:cs typeface="Wingdings" panose="05000000000000000000"/>
                        </a:rPr>
                        <a:t> </a:t>
                      </a:r>
                      <a:r>
                        <a:rPr sz="150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通过“班组作业饱和度评估”模</a:t>
                      </a:r>
                      <a:r>
                        <a:rPr sz="150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块</a:t>
                      </a: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</a:t>
                      </a: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50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对</a:t>
                      </a:r>
                      <a:r>
                        <a:rPr sz="1500" spc="50" dirty="0">
                          <a:ln w="3175" cap="flat" cmpd="sng">
                            <a:solidFill>
                              <a:srgbClr val="FF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班组作业饱和度</a:t>
                      </a:r>
                      <a:r>
                        <a:rPr sz="150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</a:t>
                      </a:r>
                      <a:r>
                        <a:rPr sz="150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</a:t>
                      </a:r>
                      <a:r>
                        <a:rPr sz="150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作业风险</a:t>
                      </a:r>
                      <a:r>
                        <a:rPr sz="150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进</a:t>
                      </a: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行</a:t>
                      </a: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</a:t>
                      </a:r>
                      <a:r>
                        <a:rPr sz="150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监测</a:t>
                      </a:r>
                      <a:r>
                        <a:rPr sz="150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50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</a:t>
                      </a:r>
                      <a:r>
                        <a:rPr sz="1500" spc="70" dirty="0">
                          <a:ln w="3175" cap="flat" cmpd="sng">
                            <a:solidFill>
                              <a:srgbClr val="FF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饱和度按50%-80%控制</a:t>
                      </a:r>
                      <a:r>
                        <a:rPr sz="1500" spc="20" dirty="0">
                          <a:ln w="3175" cap="flat" cmpd="sng">
                            <a:solidFill>
                              <a:srgbClr val="FF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。</a:t>
                      </a:r>
                      <a:endParaRPr lang="en-US" altLang="en-US" sz="1500" dirty="0"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66" name="group 66"/>
          <p:cNvGrpSpPr/>
          <p:nvPr/>
        </p:nvGrpSpPr>
        <p:grpSpPr>
          <a:xfrm rot="21600000">
            <a:off x="8840267" y="1399222"/>
            <a:ext cx="2133485" cy="473710"/>
            <a:chOff x="0" y="0"/>
            <a:chExt cx="2133485" cy="473710"/>
          </a:xfrm>
        </p:grpSpPr>
        <p:pic>
          <p:nvPicPr>
            <p:cNvPr id="195" name="picture 19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rot="21600000">
              <a:off x="0" y="0"/>
              <a:ext cx="2133485" cy="473710"/>
            </a:xfrm>
            <a:prstGeom prst="rect">
              <a:avLst/>
            </a:prstGeom>
          </p:spPr>
        </p:pic>
        <p:sp>
          <p:nvSpPr>
            <p:cNvPr id="196" name="textbox 196"/>
            <p:cNvSpPr/>
            <p:nvPr/>
          </p:nvSpPr>
          <p:spPr>
            <a:xfrm>
              <a:off x="-12700" y="-12700"/>
              <a:ext cx="2159000" cy="527050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5000"/>
                </a:lnSpc>
              </a:pPr>
              <a:endParaRPr lang="en-US" altLang="en-US" sz="600" dirty="0"/>
            </a:p>
            <a:p>
              <a:pPr marL="605155" algn="l" rtl="0" eaLnBrk="0">
                <a:lnSpc>
                  <a:spcPct val="91000"/>
                </a:lnSpc>
                <a:spcBef>
                  <a:spcPts val="0"/>
                </a:spcBef>
              </a:pPr>
              <a:r>
                <a:rPr sz="2000" spc="-10" dirty="0">
                  <a:ln w="3175" cap="flat" cmpd="sng">
                    <a:solidFill>
                      <a:srgbClr val="FFFFFF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计划执行</a:t>
              </a:r>
              <a:endParaRPr lang="en-US" altLang="en-US" sz="2000" dirty="0"/>
            </a:p>
          </p:txBody>
        </p:sp>
      </p:grpSp>
      <p:graphicFrame>
        <p:nvGraphicFramePr>
          <p:cNvPr id="197" name="table 197"/>
          <p:cNvGraphicFramePr>
            <a:graphicFrameLocks noGrp="1"/>
          </p:cNvGraphicFramePr>
          <p:nvPr/>
        </p:nvGraphicFramePr>
        <p:xfrm>
          <a:off x="8249919" y="1836420"/>
          <a:ext cx="3652519" cy="4693920"/>
        </p:xfrm>
        <a:graphic>
          <a:graphicData uri="http://schemas.openxmlformats.org/drawingml/2006/table">
            <a:tbl>
              <a:tblPr/>
              <a:tblGrid>
                <a:gridCol w="3652519"/>
              </a:tblGrid>
              <a:tr h="468122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lang="en-US" altLang="en-US" sz="800" dirty="0"/>
                    </a:p>
                    <a:p>
                      <a:pPr marL="445135" indent="-327025" algn="l" rtl="0" eaLnBrk="0">
                        <a:lnSpc>
                          <a:spcPct val="125000"/>
                        </a:lnSpc>
                        <a:spcBef>
                          <a:spcPts val="0"/>
                        </a:spcBef>
                      </a:pP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Wingdings" panose="05000000000000000000"/>
                          <a:ea typeface="Wingdings" panose="05000000000000000000"/>
                          <a:cs typeface="Wingdings" panose="05000000000000000000"/>
                        </a:rPr>
                        <a:t>p</a:t>
                      </a:r>
                      <a:r>
                        <a:rPr sz="150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Wingdings" panose="05000000000000000000"/>
                          <a:ea typeface="Wingdings" panose="05000000000000000000"/>
                          <a:cs typeface="Wingdings" panose="05000000000000000000"/>
                        </a:rPr>
                        <a:t> </a:t>
                      </a:r>
                      <a:r>
                        <a:rPr sz="1500" spc="40" dirty="0">
                          <a:ln w="3175" cap="flat" cmpd="sng">
                            <a:solidFill>
                              <a:srgbClr val="FF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生产指挥中心监测作业分布</a:t>
                      </a:r>
                      <a:r>
                        <a:rPr sz="1500" spc="20" dirty="0">
                          <a:ln w="3175" cap="flat" cmpd="sng">
                            <a:solidFill>
                              <a:srgbClr val="FF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</a:t>
                      </a:r>
                      <a:r>
                        <a:rPr sz="1500" spc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</a:t>
                      </a:r>
                      <a:r>
                        <a:rPr sz="1500" spc="0" dirty="0">
                          <a:ln w="3175" cap="flat" cmpd="sng">
                            <a:solidFill>
                              <a:srgbClr val="FF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风险</a:t>
                      </a:r>
                      <a:r>
                        <a:rPr sz="1500" spc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</a:t>
                      </a:r>
                      <a:r>
                        <a:rPr sz="1500" spc="80" dirty="0">
                          <a:ln w="3175" cap="flat" cmpd="sng">
                            <a:solidFill>
                              <a:srgbClr val="FF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评估</a:t>
                      </a:r>
                      <a:r>
                        <a:rPr sz="150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结果等</a:t>
                      </a:r>
                      <a:r>
                        <a:rPr sz="150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50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，重点关注超作业饱</a:t>
                      </a:r>
                      <a:r>
                        <a:rPr sz="150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和</a:t>
                      </a: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</a:t>
                      </a:r>
                      <a:r>
                        <a:rPr sz="150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度、</a:t>
                      </a:r>
                      <a:r>
                        <a:rPr sz="150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</a:t>
                      </a:r>
                      <a:r>
                        <a:rPr sz="150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作业风险较</a:t>
                      </a: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高、</a:t>
                      </a: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</a:t>
                      </a: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复杂故障抢修</a:t>
                      </a: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</a:t>
                      </a:r>
                      <a:r>
                        <a:rPr sz="150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等高风险作业</a:t>
                      </a:r>
                      <a:r>
                        <a:rPr sz="150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。</a:t>
                      </a:r>
                      <a:endParaRPr lang="en-US" altLang="en-US" sz="1500" dirty="0"/>
                    </a:p>
                    <a:p>
                      <a:pPr marL="456565" indent="-338455" algn="l" rtl="0" eaLnBrk="0">
                        <a:lnSpc>
                          <a:spcPct val="117000"/>
                        </a:lnSpc>
                        <a:spcBef>
                          <a:spcPts val="585"/>
                        </a:spcBef>
                      </a:pP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Wingdings" panose="05000000000000000000"/>
                          <a:ea typeface="Wingdings" panose="05000000000000000000"/>
                          <a:cs typeface="Wingdings" panose="05000000000000000000"/>
                        </a:rPr>
                        <a:t>p</a:t>
                      </a:r>
                      <a:r>
                        <a:rPr sz="150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Wingdings" panose="05000000000000000000"/>
                          <a:ea typeface="Wingdings" panose="05000000000000000000"/>
                          <a:cs typeface="Wingdings" panose="05000000000000000000"/>
                        </a:rPr>
                        <a:t> </a:t>
                      </a:r>
                      <a:r>
                        <a:rPr sz="150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根据作业计划、</a:t>
                      </a:r>
                      <a:r>
                        <a:rPr sz="150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</a:t>
                      </a:r>
                      <a:r>
                        <a:rPr sz="150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作业内容、</a:t>
                      </a:r>
                      <a:r>
                        <a:rPr sz="150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</a:t>
                      </a:r>
                      <a:r>
                        <a:rPr sz="150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作</a:t>
                      </a: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业风</a:t>
                      </a: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</a:t>
                      </a:r>
                      <a:r>
                        <a:rPr sz="150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险和控制措施</a:t>
                      </a: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</a:t>
                      </a:r>
                      <a:r>
                        <a:rPr sz="1500" spc="0" dirty="0">
                          <a:ln w="3175" cap="flat" cmpd="sng">
                            <a:solidFill>
                              <a:srgbClr val="FF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安排作业班组人员</a:t>
                      </a: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。</a:t>
                      </a:r>
                      <a:endParaRPr lang="en-US" altLang="en-US" sz="1500" dirty="0"/>
                    </a:p>
                    <a:p>
                      <a:pPr marL="446405" indent="-328930" algn="l" rtl="0" eaLnBrk="0">
                        <a:lnSpc>
                          <a:spcPct val="125000"/>
                        </a:lnSpc>
                        <a:spcBef>
                          <a:spcPts val="610"/>
                        </a:spcBef>
                      </a:pP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Wingdings" panose="05000000000000000000"/>
                          <a:ea typeface="Wingdings" panose="05000000000000000000"/>
                          <a:cs typeface="Wingdings" panose="05000000000000000000"/>
                        </a:rPr>
                        <a:t>p</a:t>
                      </a:r>
                      <a:r>
                        <a:rPr sz="150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Wingdings" panose="05000000000000000000"/>
                          <a:ea typeface="Wingdings" panose="05000000000000000000"/>
                          <a:cs typeface="Wingdings" panose="05000000000000000000"/>
                        </a:rPr>
                        <a:t> </a:t>
                      </a:r>
                      <a:r>
                        <a:rPr sz="150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生产指挥中心每日查看各部门、</a:t>
                      </a:r>
                      <a:r>
                        <a:rPr sz="150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</a:t>
                      </a:r>
                      <a:r>
                        <a:rPr sz="150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班</a:t>
                      </a: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</a:t>
                      </a:r>
                      <a:r>
                        <a:rPr sz="150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组的饱和度评估结果</a:t>
                      </a:r>
                      <a:r>
                        <a:rPr sz="150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50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，督促饱和</a:t>
                      </a:r>
                      <a:r>
                        <a:rPr sz="150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度</a:t>
                      </a: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</a:t>
                      </a:r>
                      <a:r>
                        <a:rPr sz="150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高的部门、</a:t>
                      </a:r>
                      <a:r>
                        <a:rPr sz="150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</a:t>
                      </a:r>
                      <a:r>
                        <a:rPr sz="150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班组</a:t>
                      </a:r>
                      <a:r>
                        <a:rPr sz="150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50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</a:t>
                      </a:r>
                      <a:r>
                        <a:rPr sz="1500" spc="20" dirty="0">
                          <a:ln w="3175" cap="flat" cmpd="sng">
                            <a:solidFill>
                              <a:srgbClr val="FF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合理控制工作</a:t>
                      </a:r>
                      <a:r>
                        <a:rPr sz="1500" spc="0" dirty="0">
                          <a:ln w="3175" cap="flat" cmpd="sng">
                            <a:solidFill>
                              <a:srgbClr val="FF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节</a:t>
                      </a:r>
                      <a:r>
                        <a:rPr sz="1500" spc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</a:t>
                      </a:r>
                      <a:r>
                        <a:rPr sz="1500" spc="-50" dirty="0">
                          <a:ln w="3175" cap="flat" cmpd="sng">
                            <a:solidFill>
                              <a:srgbClr val="FF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奏</a:t>
                      </a:r>
                      <a:r>
                        <a:rPr sz="1500" spc="-5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500" spc="-50" dirty="0">
                          <a:ln w="3175" cap="flat" cmpd="sng">
                            <a:solidFill>
                              <a:srgbClr val="FF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，避免人员连续作业、</a:t>
                      </a:r>
                      <a:r>
                        <a:rPr sz="1500" spc="-5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</a:t>
                      </a:r>
                      <a:r>
                        <a:rPr sz="1500" spc="-50" dirty="0">
                          <a:ln w="3175" cap="flat" cmpd="sng">
                            <a:solidFill>
                              <a:srgbClr val="FF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疲劳作</a:t>
                      </a:r>
                      <a:r>
                        <a:rPr sz="1500" spc="-20" dirty="0">
                          <a:ln w="3175" cap="flat" cmpd="sng">
                            <a:solidFill>
                              <a:srgbClr val="FF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业</a:t>
                      </a: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。</a:t>
                      </a:r>
                      <a:endParaRPr lang="en-US" altLang="en-US" sz="1500" dirty="0"/>
                    </a:p>
                    <a:p>
                      <a:pPr algn="l" rtl="0" eaLnBrk="0">
                        <a:lnSpc>
                          <a:spcPct val="123000"/>
                        </a:lnSpc>
                      </a:pPr>
                      <a:endParaRPr lang="en-US" altLang="en-US" sz="400" dirty="0"/>
                    </a:p>
                    <a:p>
                      <a:pPr marL="446405" indent="-328295" algn="l" rtl="0" eaLnBrk="0">
                        <a:lnSpc>
                          <a:spcPct val="117000"/>
                        </a:lnSpc>
                      </a:pP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Wingdings" panose="05000000000000000000"/>
                          <a:ea typeface="Wingdings" panose="05000000000000000000"/>
                          <a:cs typeface="Wingdings" panose="05000000000000000000"/>
                        </a:rPr>
                        <a:t>p</a:t>
                      </a:r>
                      <a:r>
                        <a:rPr sz="150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Wingdings" panose="05000000000000000000"/>
                          <a:ea typeface="Wingdings" panose="05000000000000000000"/>
                          <a:cs typeface="Wingdings" panose="05000000000000000000"/>
                        </a:rPr>
                        <a:t> </a:t>
                      </a:r>
                      <a:r>
                        <a:rPr sz="150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涉及跨专业作业</a:t>
                      </a:r>
                      <a:r>
                        <a:rPr sz="150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50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</a:t>
                      </a:r>
                      <a:r>
                        <a:rPr sz="1500" spc="60" dirty="0">
                          <a:ln w="3175" cap="flat" cmpd="sng">
                            <a:solidFill>
                              <a:srgbClr val="FF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各专业根据风</a:t>
                      </a:r>
                      <a:r>
                        <a:rPr sz="1500" spc="20" dirty="0">
                          <a:ln w="3175" cap="flat" cmpd="sng">
                            <a:solidFill>
                              <a:srgbClr val="FF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险</a:t>
                      </a:r>
                      <a:r>
                        <a:rPr sz="1500" spc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</a:t>
                      </a:r>
                      <a:r>
                        <a:rPr sz="1500" spc="90" dirty="0">
                          <a:ln w="3175" cap="flat" cmpd="sng">
                            <a:solidFill>
                              <a:srgbClr val="FF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等级开展对应监督管控</a:t>
                      </a:r>
                      <a:r>
                        <a:rPr sz="150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。</a:t>
                      </a:r>
                      <a:endParaRPr lang="en-US" altLang="en-US" sz="1500" dirty="0"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8" name="textbox 198"/>
          <p:cNvSpPr/>
          <p:nvPr/>
        </p:nvSpPr>
        <p:spPr>
          <a:xfrm>
            <a:off x="128051" y="108317"/>
            <a:ext cx="4330700" cy="49403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87325" algn="l" rtl="0" eaLnBrk="0">
              <a:lnSpc>
                <a:spcPts val="3685"/>
              </a:lnSpc>
            </a:pPr>
            <a:r>
              <a:rPr sz="2700" spc="230" dirty="0">
                <a:ln w="6350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(七)</a:t>
            </a:r>
            <a:r>
              <a:rPr sz="2700" spc="2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spc="230" dirty="0">
                <a:ln w="6350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加强多专业计划协</a:t>
            </a:r>
            <a:r>
              <a:rPr sz="2700" spc="150" dirty="0">
                <a:ln w="6350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</a:t>
            </a:r>
            <a:endParaRPr lang="en-US" altLang="en-US" sz="2700" dirty="0"/>
          </a:p>
        </p:txBody>
      </p:sp>
      <p:grpSp>
        <p:nvGrpSpPr>
          <p:cNvPr id="68" name="group 68"/>
          <p:cNvGrpSpPr/>
          <p:nvPr/>
        </p:nvGrpSpPr>
        <p:grpSpPr>
          <a:xfrm rot="21600000">
            <a:off x="5183301" y="1399222"/>
            <a:ext cx="1962873" cy="427355"/>
            <a:chOff x="0" y="0"/>
            <a:chExt cx="1962873" cy="427355"/>
          </a:xfrm>
        </p:grpSpPr>
        <p:pic>
          <p:nvPicPr>
            <p:cNvPr id="199" name="picture 19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1962873" cy="427355"/>
            </a:xfrm>
            <a:prstGeom prst="rect">
              <a:avLst/>
            </a:prstGeom>
          </p:spPr>
        </p:pic>
        <p:sp>
          <p:nvSpPr>
            <p:cNvPr id="200" name="textbox 200"/>
            <p:cNvSpPr/>
            <p:nvPr/>
          </p:nvSpPr>
          <p:spPr>
            <a:xfrm>
              <a:off x="-12700" y="-12700"/>
              <a:ext cx="1988820" cy="478790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2000"/>
                </a:lnSpc>
              </a:pPr>
              <a:endParaRPr lang="en-US" altLang="en-US" sz="600" dirty="0"/>
            </a:p>
            <a:p>
              <a:pPr marL="497840" algn="l" rtl="0" eaLnBrk="0">
                <a:lnSpc>
                  <a:spcPct val="91000"/>
                </a:lnSpc>
                <a:spcBef>
                  <a:spcPts val="5"/>
                </a:spcBef>
              </a:pPr>
              <a:r>
                <a:rPr sz="2000" spc="-10" dirty="0">
                  <a:ln w="3175" cap="flat" cmpd="sng">
                    <a:solidFill>
                      <a:srgbClr val="FFFFFF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计划审核</a:t>
              </a:r>
              <a:endParaRPr lang="en-US" altLang="en-US" sz="2000" dirty="0"/>
            </a:p>
          </p:txBody>
        </p:sp>
      </p:grpSp>
      <p:grpSp>
        <p:nvGrpSpPr>
          <p:cNvPr id="70" name="group 70"/>
          <p:cNvGrpSpPr/>
          <p:nvPr/>
        </p:nvGrpSpPr>
        <p:grpSpPr>
          <a:xfrm rot="21600000">
            <a:off x="1260627" y="1399222"/>
            <a:ext cx="1942769" cy="427355"/>
            <a:chOff x="0" y="0"/>
            <a:chExt cx="1942769" cy="427355"/>
          </a:xfrm>
        </p:grpSpPr>
        <p:pic>
          <p:nvPicPr>
            <p:cNvPr id="201" name="picture 20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1942769" cy="427355"/>
            </a:xfrm>
            <a:prstGeom prst="rect">
              <a:avLst/>
            </a:prstGeom>
          </p:spPr>
        </p:pic>
        <p:sp>
          <p:nvSpPr>
            <p:cNvPr id="202" name="textbox 202"/>
            <p:cNvSpPr/>
            <p:nvPr/>
          </p:nvSpPr>
          <p:spPr>
            <a:xfrm>
              <a:off x="-12700" y="-12700"/>
              <a:ext cx="1968500" cy="480694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3000"/>
                </a:lnSpc>
              </a:pPr>
              <a:endParaRPr lang="en-US" altLang="en-US" sz="600" dirty="0"/>
            </a:p>
            <a:p>
              <a:pPr marL="427990" algn="l" rtl="0" eaLnBrk="0">
                <a:lnSpc>
                  <a:spcPct val="91000"/>
                </a:lnSpc>
                <a:spcBef>
                  <a:spcPts val="5"/>
                </a:spcBef>
              </a:pPr>
              <a:r>
                <a:rPr sz="2000" spc="-10" dirty="0">
                  <a:ln w="3175" cap="flat" cmpd="sng">
                    <a:solidFill>
                      <a:srgbClr val="FFFFFF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计划编制</a:t>
              </a:r>
              <a:endParaRPr lang="en-US" altLang="en-US" sz="2000" dirty="0"/>
            </a:p>
          </p:txBody>
        </p:sp>
      </p:grpSp>
      <p:sp>
        <p:nvSpPr>
          <p:cNvPr id="203" name="textbox 203"/>
          <p:cNvSpPr/>
          <p:nvPr/>
        </p:nvSpPr>
        <p:spPr>
          <a:xfrm>
            <a:off x="460414" y="837544"/>
            <a:ext cx="1440814" cy="41084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1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4000"/>
              </a:lnSpc>
            </a:pPr>
            <a:r>
              <a:rPr sz="2700" spc="90" dirty="0">
                <a:ln w="6350" cap="flat" cmpd="sng">
                  <a:solidFill>
                    <a:srgbClr val="4472C4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4472C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管控要</a:t>
            </a:r>
            <a:r>
              <a:rPr sz="2700" spc="70" dirty="0">
                <a:ln w="6350" cap="flat" cmpd="sng">
                  <a:solidFill>
                    <a:srgbClr val="4472C4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4472C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求</a:t>
            </a:r>
            <a:endParaRPr lang="en-US" altLang="en-US" sz="2700" dirty="0"/>
          </a:p>
        </p:txBody>
      </p:sp>
      <p:pic>
        <p:nvPicPr>
          <p:cNvPr id="204" name="picture 20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0" y="650151"/>
            <a:ext cx="12192000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picture 20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33985" y="1828165"/>
            <a:ext cx="8284209" cy="3842384"/>
          </a:xfrm>
          <a:prstGeom prst="rect">
            <a:avLst/>
          </a:prstGeom>
        </p:spPr>
      </p:pic>
      <p:sp>
        <p:nvSpPr>
          <p:cNvPr id="206" name="textbox 206"/>
          <p:cNvSpPr/>
          <p:nvPr/>
        </p:nvSpPr>
        <p:spPr>
          <a:xfrm>
            <a:off x="10786524" y="1997448"/>
            <a:ext cx="1315085" cy="347281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2000"/>
              </a:lnSpc>
            </a:pPr>
            <a:endParaRPr lang="en-US" altLang="en-US" sz="100" dirty="0"/>
          </a:p>
          <a:p>
            <a:pPr marL="13335" indent="-635" algn="l" rtl="0" eaLnBrk="0">
              <a:lnSpc>
                <a:spcPct val="98000"/>
              </a:lnSpc>
            </a:pPr>
            <a:r>
              <a:rPr sz="1400" spc="-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</a:t>
            </a:r>
            <a:r>
              <a:rPr sz="1400" spc="-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-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</a:t>
            </a:r>
            <a:r>
              <a:rPr sz="1400" spc="-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-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</a:t>
            </a:r>
            <a:r>
              <a:rPr sz="1400" spc="-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-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挥</a:t>
            </a:r>
            <a:r>
              <a:rPr sz="1400" spc="-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-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</a:t>
            </a:r>
            <a:r>
              <a:rPr sz="1400" spc="-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心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监测作业分布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400" spc="-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</a:t>
            </a:r>
            <a:r>
              <a:rPr sz="1400" spc="-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-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</a:t>
            </a:r>
            <a:r>
              <a:rPr sz="1400" spc="-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-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</a:t>
            </a:r>
            <a:r>
              <a:rPr sz="1400" spc="-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-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</a:t>
            </a:r>
            <a:r>
              <a:rPr sz="1400" spc="-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-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</a:t>
            </a:r>
            <a:r>
              <a:rPr sz="1400" spc="-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4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险作业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en-US" sz="1400" dirty="0"/>
          </a:p>
          <a:p>
            <a:pPr algn="l" rtl="0" eaLnBrk="0">
              <a:lnSpc>
                <a:spcPct val="133000"/>
              </a:lnSpc>
            </a:pPr>
            <a:endParaRPr lang="en-US" altLang="en-US" sz="1000" dirty="0"/>
          </a:p>
          <a:p>
            <a:pPr marL="81915" indent="1905" algn="l" rtl="0" eaLnBrk="0">
              <a:lnSpc>
                <a:spcPct val="102000"/>
              </a:lnSpc>
              <a:spcBef>
                <a:spcPts val="420"/>
              </a:spcBef>
            </a:pPr>
            <a:r>
              <a:rPr sz="1400" spc="-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</a:t>
            </a:r>
            <a:r>
              <a:rPr sz="1400" spc="-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-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据</a:t>
            </a:r>
            <a:r>
              <a:rPr sz="1400" spc="-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-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</a:t>
            </a:r>
            <a:r>
              <a:rPr sz="1400" spc="-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-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</a:t>
            </a:r>
            <a:r>
              <a:rPr sz="1400" spc="-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-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</a:t>
            </a:r>
            <a:r>
              <a:rPr sz="1400" spc="-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险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-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</a:t>
            </a:r>
            <a:r>
              <a:rPr sz="1400" spc="-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-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级</a:t>
            </a:r>
            <a:r>
              <a:rPr sz="1400" spc="-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-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，开</a:t>
            </a:r>
            <a:r>
              <a:rPr sz="1400" spc="-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-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展</a:t>
            </a:r>
            <a:r>
              <a:rPr sz="1400" spc="-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-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-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</a:t>
            </a:r>
            <a:r>
              <a:rPr sz="1400" spc="-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-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</a:t>
            </a:r>
            <a:r>
              <a:rPr sz="1400" spc="-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-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层</a:t>
            </a:r>
            <a:r>
              <a:rPr sz="1400" spc="-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-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1400" spc="-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400" spc="-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</a:t>
            </a:r>
            <a:r>
              <a:rPr sz="1400" spc="-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-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级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控。</a:t>
            </a:r>
            <a:endParaRPr lang="en-US" altLang="en-US" sz="1400" dirty="0"/>
          </a:p>
          <a:p>
            <a:pPr algn="l" rtl="0" eaLnBrk="0">
              <a:lnSpc>
                <a:spcPct val="116000"/>
              </a:lnSpc>
            </a:pPr>
            <a:endParaRPr lang="en-US" altLang="en-US" sz="1000" dirty="0"/>
          </a:p>
          <a:p>
            <a:pPr algn="l" rtl="0" eaLnBrk="0">
              <a:lnSpc>
                <a:spcPct val="117000"/>
              </a:lnSpc>
            </a:pPr>
            <a:endParaRPr lang="en-US" altLang="en-US" sz="1000" dirty="0"/>
          </a:p>
          <a:p>
            <a:pPr algn="l" rtl="0" eaLnBrk="0">
              <a:lnSpc>
                <a:spcPct val="117000"/>
              </a:lnSpc>
            </a:pPr>
            <a:endParaRPr lang="en-US" altLang="en-US" sz="300" dirty="0"/>
          </a:p>
          <a:p>
            <a:pPr marL="236220" indent="635" algn="l" rtl="0" eaLnBrk="0">
              <a:lnSpc>
                <a:spcPct val="101000"/>
              </a:lnSpc>
              <a:spcBef>
                <a:spcPts val="0"/>
              </a:spcBef>
            </a:pPr>
            <a:r>
              <a:rPr sz="14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涉及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跨专业作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-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</a:t>
            </a:r>
            <a:r>
              <a:rPr sz="1400" spc="-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-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，各专业</a:t>
            </a:r>
            <a:r>
              <a:rPr sz="14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据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风险等级开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展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对应监督管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控。</a:t>
            </a:r>
            <a:endParaRPr lang="en-US" altLang="en-US" sz="1400" dirty="0"/>
          </a:p>
        </p:txBody>
      </p:sp>
      <p:sp>
        <p:nvSpPr>
          <p:cNvPr id="207" name="textbox 207"/>
          <p:cNvSpPr/>
          <p:nvPr/>
        </p:nvSpPr>
        <p:spPr>
          <a:xfrm>
            <a:off x="7049371" y="2072914"/>
            <a:ext cx="1233169" cy="345630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69000"/>
              </a:lnSpc>
            </a:pPr>
            <a:endParaRPr lang="en-US" altLang="en-US" sz="100" dirty="0"/>
          </a:p>
          <a:p>
            <a:pPr marL="22225" indent="1270" algn="l" rtl="0" eaLnBrk="0">
              <a:lnSpc>
                <a:spcPct val="98000"/>
              </a:lnSpc>
            </a:pPr>
            <a:r>
              <a:rPr sz="1400" spc="-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</a:t>
            </a:r>
            <a:r>
              <a:rPr sz="1400" spc="-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-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</a:t>
            </a:r>
            <a:r>
              <a:rPr sz="1400" spc="-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-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</a:t>
            </a:r>
            <a:r>
              <a:rPr sz="1400" spc="-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-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责</a:t>
            </a:r>
            <a:r>
              <a:rPr sz="1400" spc="-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-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1400" spc="-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400" spc="-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-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</a:t>
            </a:r>
            <a:r>
              <a:rPr sz="1400" spc="-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-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领</a:t>
            </a:r>
            <a:r>
              <a:rPr sz="1400" spc="-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-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</a:t>
            </a:r>
            <a:r>
              <a:rPr sz="1400" spc="-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-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1400" spc="-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400" spc="-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</a:t>
            </a:r>
            <a:r>
              <a:rPr sz="1400" spc="-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-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-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</a:t>
            </a:r>
            <a:r>
              <a:rPr sz="1400" spc="-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-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</a:t>
            </a:r>
            <a:r>
              <a:rPr sz="1400" spc="-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-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</a:t>
            </a:r>
            <a:r>
              <a:rPr sz="1400" spc="-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-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门</a:t>
            </a:r>
            <a:r>
              <a:rPr sz="1400" spc="-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-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</a:t>
            </a:r>
            <a:r>
              <a:rPr sz="1400" spc="-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级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审核</a:t>
            </a:r>
            <a:endParaRPr lang="en-US" altLang="en-US" sz="1400" dirty="0"/>
          </a:p>
          <a:p>
            <a:pPr marL="12700" indent="635" algn="l" rtl="0" eaLnBrk="0">
              <a:lnSpc>
                <a:spcPct val="101000"/>
              </a:lnSpc>
              <a:spcBef>
                <a:spcPts val="825"/>
              </a:spcBef>
            </a:pPr>
            <a:r>
              <a:rPr sz="1400" spc="-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</a:t>
            </a:r>
            <a:r>
              <a:rPr sz="1400" spc="-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-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</a:t>
            </a:r>
            <a:r>
              <a:rPr sz="1400" spc="-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-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</a:t>
            </a:r>
            <a:r>
              <a:rPr sz="1400" spc="-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-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</a:t>
            </a:r>
            <a:r>
              <a:rPr sz="1400" spc="-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-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</a:t>
            </a:r>
            <a:r>
              <a:rPr sz="1400" spc="-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式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-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</a:t>
            </a:r>
            <a:r>
              <a:rPr sz="1400" spc="-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-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排</a:t>
            </a:r>
            <a:r>
              <a:rPr sz="1400" spc="-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-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1400" spc="-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400" spc="-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停</a:t>
            </a:r>
            <a:r>
              <a:rPr sz="1400" spc="-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-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</a:t>
            </a:r>
            <a:r>
              <a:rPr sz="1400" spc="-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-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范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围、资源配置</a:t>
            </a:r>
            <a:r>
              <a:rPr sz="140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-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</a:t>
            </a:r>
            <a:r>
              <a:rPr sz="1400" spc="-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-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险</a:t>
            </a:r>
            <a:r>
              <a:rPr sz="1400" spc="-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-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</a:t>
            </a:r>
            <a:r>
              <a:rPr sz="1400" spc="-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-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</a:t>
            </a:r>
            <a:r>
              <a:rPr sz="1400" spc="-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-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1400" spc="-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400" spc="-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业饱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和度等</a:t>
            </a:r>
            <a:endParaRPr lang="en-US" altLang="en-US" sz="1400" dirty="0"/>
          </a:p>
          <a:p>
            <a:pPr algn="l" rtl="0" eaLnBrk="0">
              <a:lnSpc>
                <a:spcPct val="178000"/>
              </a:lnSpc>
            </a:pPr>
            <a:endParaRPr lang="en-US" altLang="en-US" sz="1000" dirty="0"/>
          </a:p>
          <a:p>
            <a:pPr algn="l" rtl="0" eaLnBrk="0">
              <a:lnSpc>
                <a:spcPct val="119000"/>
              </a:lnSpc>
            </a:pPr>
            <a:endParaRPr lang="en-US" altLang="en-US" sz="300" dirty="0"/>
          </a:p>
          <a:p>
            <a:pPr marL="75565" indent="1905" algn="l" rtl="0" eaLnBrk="0">
              <a:lnSpc>
                <a:spcPct val="102000"/>
              </a:lnSpc>
              <a:spcBef>
                <a:spcPts val="5"/>
              </a:spcBef>
            </a:pPr>
            <a:r>
              <a:rPr sz="14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班组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作业饱和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度、作业风险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进行监测</a:t>
            </a:r>
            <a:r>
              <a:rPr sz="140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，饱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和度按50%</a:t>
            </a:r>
            <a:r>
              <a:rPr sz="140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0%控制。</a:t>
            </a:r>
            <a:endParaRPr lang="en-US" altLang="en-US" sz="1400" dirty="0"/>
          </a:p>
        </p:txBody>
      </p:sp>
      <p:sp>
        <p:nvSpPr>
          <p:cNvPr id="208" name="textbox 208"/>
          <p:cNvSpPr/>
          <p:nvPr/>
        </p:nvSpPr>
        <p:spPr>
          <a:xfrm>
            <a:off x="3033801" y="1936597"/>
            <a:ext cx="1402080" cy="199199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lang="en-US" altLang="en-US" sz="100" dirty="0"/>
          </a:p>
          <a:p>
            <a:pPr marL="148590" indent="0" algn="l" rtl="0" eaLnBrk="0">
              <a:lnSpc>
                <a:spcPct val="107000"/>
              </a:lnSpc>
            </a:pPr>
            <a:r>
              <a:rPr sz="110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结合电网建设</a:t>
            </a:r>
            <a:r>
              <a:rPr sz="110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11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11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运行方式</a:t>
            </a:r>
            <a:r>
              <a:rPr sz="11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11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1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设备</a:t>
            </a:r>
            <a:r>
              <a:rPr sz="11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11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修理技改</a:t>
            </a:r>
            <a:r>
              <a:rPr sz="11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11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1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设备</a:t>
            </a:r>
            <a:r>
              <a:rPr sz="11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110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运维策略等编</a:t>
            </a:r>
            <a:r>
              <a:rPr sz="110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制</a:t>
            </a:r>
            <a:r>
              <a:rPr sz="11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110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作业计</a:t>
            </a:r>
            <a:r>
              <a:rPr sz="110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划</a:t>
            </a:r>
            <a:endParaRPr lang="en-US" altLang="en-US" sz="1100" dirty="0"/>
          </a:p>
          <a:p>
            <a:pPr algn="l" rtl="0" eaLnBrk="0">
              <a:lnSpc>
                <a:spcPct val="192000"/>
              </a:lnSpc>
            </a:pPr>
            <a:endParaRPr lang="en-US" altLang="en-US" sz="1000" dirty="0"/>
          </a:p>
          <a:p>
            <a:pPr marL="13335" indent="-635" algn="l" rtl="0" eaLnBrk="0">
              <a:lnSpc>
                <a:spcPct val="110000"/>
              </a:lnSpc>
              <a:spcBef>
                <a:spcPts val="335"/>
              </a:spcBef>
            </a:pPr>
            <a:r>
              <a:rPr sz="110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合理调配作业资源</a:t>
            </a:r>
            <a:r>
              <a:rPr sz="110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1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1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10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管控工作节奏</a:t>
            </a:r>
            <a:r>
              <a:rPr sz="110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1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lang="en-US" altLang="en-US" sz="1100" dirty="0"/>
          </a:p>
          <a:p>
            <a:pPr marL="12700" indent="3175" algn="l" rtl="0" eaLnBrk="0">
              <a:lnSpc>
                <a:spcPct val="109000"/>
              </a:lnSpc>
              <a:spcBef>
                <a:spcPts val="5"/>
              </a:spcBef>
            </a:pPr>
            <a:r>
              <a:rPr sz="110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多专业</a:t>
            </a:r>
            <a:r>
              <a:rPr sz="110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10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110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10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多部</a:t>
            </a:r>
            <a:r>
              <a:rPr sz="110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门</a:t>
            </a:r>
            <a:r>
              <a:rPr sz="11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sz="11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1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作业计划协同</a:t>
            </a:r>
            <a:r>
              <a:rPr sz="11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配合</a:t>
            </a:r>
            <a:r>
              <a:rPr sz="11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1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lang="en-US" altLang="en-US" sz="1100" dirty="0"/>
          </a:p>
        </p:txBody>
      </p:sp>
      <p:sp>
        <p:nvSpPr>
          <p:cNvPr id="209" name="textbox 209"/>
          <p:cNvSpPr/>
          <p:nvPr/>
        </p:nvSpPr>
        <p:spPr>
          <a:xfrm>
            <a:off x="128051" y="108317"/>
            <a:ext cx="4330700" cy="49403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87325" algn="l" rtl="0" eaLnBrk="0">
              <a:lnSpc>
                <a:spcPts val="3685"/>
              </a:lnSpc>
            </a:pPr>
            <a:r>
              <a:rPr sz="2700" spc="230" dirty="0">
                <a:ln w="6350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(七)</a:t>
            </a:r>
            <a:r>
              <a:rPr sz="2700" spc="2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spc="230" dirty="0">
                <a:ln w="6350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加强多专业计划协</a:t>
            </a:r>
            <a:r>
              <a:rPr sz="2700" spc="150" dirty="0">
                <a:ln w="6350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</a:t>
            </a:r>
            <a:endParaRPr lang="en-US" altLang="en-US" sz="2700" dirty="0"/>
          </a:p>
        </p:txBody>
      </p:sp>
      <p:pic>
        <p:nvPicPr>
          <p:cNvPr id="210" name="picture 2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186180" y="2388234"/>
            <a:ext cx="743610" cy="2316479"/>
          </a:xfrm>
          <a:prstGeom prst="rect">
            <a:avLst/>
          </a:prstGeom>
        </p:spPr>
      </p:pic>
      <p:pic>
        <p:nvPicPr>
          <p:cNvPr id="211" name="picture 2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374640" y="2414270"/>
            <a:ext cx="657885" cy="2316479"/>
          </a:xfrm>
          <a:prstGeom prst="rect">
            <a:avLst/>
          </a:prstGeom>
        </p:spPr>
      </p:pic>
      <p:pic>
        <p:nvPicPr>
          <p:cNvPr id="212" name="picture 2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9333230" y="2406650"/>
            <a:ext cx="629945" cy="2316479"/>
          </a:xfrm>
          <a:prstGeom prst="rect">
            <a:avLst/>
          </a:prstGeom>
        </p:spPr>
      </p:pic>
      <p:grpSp>
        <p:nvGrpSpPr>
          <p:cNvPr id="72" name="group 72"/>
          <p:cNvGrpSpPr/>
          <p:nvPr/>
        </p:nvGrpSpPr>
        <p:grpSpPr>
          <a:xfrm rot="21600000">
            <a:off x="8840267" y="1399222"/>
            <a:ext cx="2103004" cy="427266"/>
            <a:chOff x="0" y="0"/>
            <a:chExt cx="2103004" cy="427266"/>
          </a:xfrm>
        </p:grpSpPr>
        <p:pic>
          <p:nvPicPr>
            <p:cNvPr id="213" name="picture 21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2103004" cy="427266"/>
            </a:xfrm>
            <a:prstGeom prst="rect">
              <a:avLst/>
            </a:prstGeom>
          </p:spPr>
        </p:pic>
        <p:sp>
          <p:nvSpPr>
            <p:cNvPr id="214" name="textbox 214"/>
            <p:cNvSpPr/>
            <p:nvPr/>
          </p:nvSpPr>
          <p:spPr>
            <a:xfrm>
              <a:off x="-12700" y="-12700"/>
              <a:ext cx="2128520" cy="480059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5000"/>
                </a:lnSpc>
              </a:pPr>
              <a:endParaRPr lang="en-US" altLang="en-US" sz="600" dirty="0"/>
            </a:p>
            <a:p>
              <a:pPr marL="605155" algn="l" rtl="0" eaLnBrk="0">
                <a:lnSpc>
                  <a:spcPct val="91000"/>
                </a:lnSpc>
                <a:spcBef>
                  <a:spcPts val="0"/>
                </a:spcBef>
              </a:pPr>
              <a:r>
                <a:rPr sz="2000" spc="-10" dirty="0">
                  <a:ln w="3175" cap="flat" cmpd="sng">
                    <a:solidFill>
                      <a:srgbClr val="FFFFFF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计划执行</a:t>
              </a:r>
              <a:endParaRPr lang="en-US" altLang="en-US" sz="2000" dirty="0"/>
            </a:p>
          </p:txBody>
        </p:sp>
      </p:grpSp>
      <p:grpSp>
        <p:nvGrpSpPr>
          <p:cNvPr id="74" name="group 74"/>
          <p:cNvGrpSpPr/>
          <p:nvPr/>
        </p:nvGrpSpPr>
        <p:grpSpPr>
          <a:xfrm rot="21600000">
            <a:off x="5183301" y="1399222"/>
            <a:ext cx="1962873" cy="427355"/>
            <a:chOff x="0" y="0"/>
            <a:chExt cx="1962873" cy="427355"/>
          </a:xfrm>
        </p:grpSpPr>
        <p:pic>
          <p:nvPicPr>
            <p:cNvPr id="215" name="picture 215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0" y="0"/>
              <a:ext cx="1962873" cy="427355"/>
            </a:xfrm>
            <a:prstGeom prst="rect">
              <a:avLst/>
            </a:prstGeom>
          </p:spPr>
        </p:pic>
        <p:sp>
          <p:nvSpPr>
            <p:cNvPr id="216" name="textbox 216"/>
            <p:cNvSpPr/>
            <p:nvPr/>
          </p:nvSpPr>
          <p:spPr>
            <a:xfrm>
              <a:off x="-12700" y="-12700"/>
              <a:ext cx="1988820" cy="478790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2000"/>
                </a:lnSpc>
              </a:pPr>
              <a:endParaRPr lang="en-US" altLang="en-US" sz="600" dirty="0"/>
            </a:p>
            <a:p>
              <a:pPr marL="497840" algn="l" rtl="0" eaLnBrk="0">
                <a:lnSpc>
                  <a:spcPct val="91000"/>
                </a:lnSpc>
                <a:spcBef>
                  <a:spcPts val="5"/>
                </a:spcBef>
              </a:pPr>
              <a:r>
                <a:rPr sz="2000" spc="-10" dirty="0">
                  <a:ln w="3175" cap="flat" cmpd="sng">
                    <a:solidFill>
                      <a:srgbClr val="FFFFFF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计划审核</a:t>
              </a:r>
              <a:endParaRPr lang="en-US" altLang="en-US" sz="2000" dirty="0"/>
            </a:p>
          </p:txBody>
        </p:sp>
      </p:grpSp>
      <p:grpSp>
        <p:nvGrpSpPr>
          <p:cNvPr id="76" name="group 76"/>
          <p:cNvGrpSpPr/>
          <p:nvPr/>
        </p:nvGrpSpPr>
        <p:grpSpPr>
          <a:xfrm rot="21600000">
            <a:off x="1260792" y="1399222"/>
            <a:ext cx="1942668" cy="427355"/>
            <a:chOff x="0" y="0"/>
            <a:chExt cx="1942668" cy="427355"/>
          </a:xfrm>
        </p:grpSpPr>
        <p:pic>
          <p:nvPicPr>
            <p:cNvPr id="217" name="picture 217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1942668" cy="427355"/>
            </a:xfrm>
            <a:prstGeom prst="rect">
              <a:avLst/>
            </a:prstGeom>
          </p:spPr>
        </p:pic>
        <p:sp>
          <p:nvSpPr>
            <p:cNvPr id="218" name="textbox 218"/>
            <p:cNvSpPr/>
            <p:nvPr/>
          </p:nvSpPr>
          <p:spPr>
            <a:xfrm>
              <a:off x="-12700" y="-12700"/>
              <a:ext cx="1968500" cy="480694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3000"/>
                </a:lnSpc>
              </a:pPr>
              <a:endParaRPr lang="en-US" altLang="en-US" sz="600" dirty="0"/>
            </a:p>
            <a:p>
              <a:pPr marL="427990" algn="l" rtl="0" eaLnBrk="0">
                <a:lnSpc>
                  <a:spcPct val="91000"/>
                </a:lnSpc>
                <a:spcBef>
                  <a:spcPts val="5"/>
                </a:spcBef>
              </a:pPr>
              <a:r>
                <a:rPr sz="2000" spc="-10" dirty="0">
                  <a:ln w="3175" cap="flat" cmpd="sng">
                    <a:solidFill>
                      <a:srgbClr val="FFFFFF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计划编制</a:t>
              </a:r>
              <a:endParaRPr lang="en-US" altLang="en-US" sz="2000" dirty="0"/>
            </a:p>
          </p:txBody>
        </p:sp>
      </p:grpSp>
      <p:sp>
        <p:nvSpPr>
          <p:cNvPr id="219" name="textbox 219"/>
          <p:cNvSpPr/>
          <p:nvPr/>
        </p:nvSpPr>
        <p:spPr>
          <a:xfrm>
            <a:off x="3108553" y="4389348"/>
            <a:ext cx="1402080" cy="60261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2000"/>
              </a:lnSpc>
            </a:pPr>
            <a:endParaRPr lang="en-US" altLang="en-US" sz="100" dirty="0"/>
          </a:p>
          <a:p>
            <a:pPr marL="12700" algn="l" rtl="0" eaLnBrk="0">
              <a:lnSpc>
                <a:spcPct val="115000"/>
              </a:lnSpc>
            </a:pPr>
            <a:r>
              <a:rPr sz="110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基准风险评估</a:t>
            </a:r>
            <a:r>
              <a:rPr sz="110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10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r>
              <a:rPr sz="11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</a:t>
            </a:r>
            <a:r>
              <a:rPr sz="110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基于问题风险评估</a:t>
            </a:r>
            <a:r>
              <a:rPr sz="110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1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r>
              <a:rPr sz="11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10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场景式风险评估</a:t>
            </a:r>
            <a:r>
              <a:rPr sz="110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10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lang="en-US" altLang="en-US" sz="1100" dirty="0"/>
          </a:p>
        </p:txBody>
      </p:sp>
      <p:sp>
        <p:nvSpPr>
          <p:cNvPr id="220" name="textbox 220"/>
          <p:cNvSpPr/>
          <p:nvPr/>
        </p:nvSpPr>
        <p:spPr>
          <a:xfrm>
            <a:off x="460769" y="837189"/>
            <a:ext cx="2152014" cy="41084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3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4000"/>
              </a:lnSpc>
            </a:pPr>
            <a:r>
              <a:rPr sz="2700" spc="100" dirty="0">
                <a:ln w="6350" cap="flat" cmpd="sng">
                  <a:solidFill>
                    <a:srgbClr val="4472C4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4472C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计划编制要</a:t>
            </a:r>
            <a:r>
              <a:rPr sz="2700" spc="40" dirty="0">
                <a:ln w="6350" cap="flat" cmpd="sng">
                  <a:solidFill>
                    <a:srgbClr val="4472C4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4472C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求</a:t>
            </a:r>
            <a:endParaRPr lang="en-US" altLang="en-US" sz="2700" dirty="0"/>
          </a:p>
        </p:txBody>
      </p:sp>
      <p:pic>
        <p:nvPicPr>
          <p:cNvPr id="221" name="picture 2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0" y="650151"/>
            <a:ext cx="12192000" cy="28575"/>
          </a:xfrm>
          <a:prstGeom prst="rect">
            <a:avLst/>
          </a:prstGeom>
        </p:spPr>
      </p:pic>
      <p:pic>
        <p:nvPicPr>
          <p:cNvPr id="222" name="picture 22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2687955" y="4329429"/>
            <a:ext cx="297865" cy="799464"/>
          </a:xfrm>
          <a:prstGeom prst="rect">
            <a:avLst/>
          </a:prstGeom>
        </p:spPr>
      </p:pic>
      <p:pic>
        <p:nvPicPr>
          <p:cNvPr id="223" name="picture 22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10437494" y="3161665"/>
            <a:ext cx="297866" cy="727075"/>
          </a:xfrm>
          <a:prstGeom prst="rect">
            <a:avLst/>
          </a:prstGeom>
        </p:spPr>
      </p:pic>
      <p:sp>
        <p:nvSpPr>
          <p:cNvPr id="224" name="textbox 224"/>
          <p:cNvSpPr/>
          <p:nvPr/>
        </p:nvSpPr>
        <p:spPr>
          <a:xfrm>
            <a:off x="9895183" y="3401512"/>
            <a:ext cx="617855" cy="43306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5000"/>
              </a:lnSpc>
            </a:pPr>
            <a:endParaRPr lang="en-US" altLang="en-US" sz="100" dirty="0"/>
          </a:p>
          <a:p>
            <a:pPr marL="13970" indent="-1270" algn="l" rtl="0" eaLnBrk="0">
              <a:lnSpc>
                <a:spcPct val="95000"/>
              </a:lnSpc>
            </a:pPr>
            <a:r>
              <a:rPr sz="1400" spc="-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落</a:t>
            </a:r>
            <a:r>
              <a:rPr sz="1400" spc="-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-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</a:t>
            </a:r>
            <a:r>
              <a:rPr sz="1400" spc="-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控措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施</a:t>
            </a:r>
            <a:endParaRPr lang="en-US" altLang="en-US" sz="1400" dirty="0"/>
          </a:p>
        </p:txBody>
      </p:sp>
      <p:sp>
        <p:nvSpPr>
          <p:cNvPr id="225" name="textbox 225"/>
          <p:cNvSpPr/>
          <p:nvPr/>
        </p:nvSpPr>
        <p:spPr>
          <a:xfrm>
            <a:off x="2038407" y="4434557"/>
            <a:ext cx="608330" cy="43243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endParaRPr lang="en-US" altLang="en-US" sz="100" dirty="0"/>
          </a:p>
          <a:p>
            <a:pPr marL="22225" indent="-9525" algn="l" rtl="0" eaLnBrk="0">
              <a:lnSpc>
                <a:spcPct val="95000"/>
              </a:lnSpc>
            </a:pPr>
            <a:r>
              <a:rPr sz="1400" spc="-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</a:t>
            </a:r>
            <a:r>
              <a:rPr sz="1400" spc="-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-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</a:t>
            </a:r>
            <a:r>
              <a:rPr sz="1400" spc="-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-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险评估</a:t>
            </a:r>
            <a:endParaRPr lang="en-US" altLang="en-US" sz="1400" dirty="0"/>
          </a:p>
        </p:txBody>
      </p:sp>
      <p:pic>
        <p:nvPicPr>
          <p:cNvPr id="226" name="picture 22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6762750" y="3185159"/>
            <a:ext cx="297866" cy="750570"/>
          </a:xfrm>
          <a:prstGeom prst="rect">
            <a:avLst/>
          </a:prstGeom>
        </p:spPr>
      </p:pic>
      <p:pic>
        <p:nvPicPr>
          <p:cNvPr id="227" name="picture 22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6704965" y="2054225"/>
            <a:ext cx="297866" cy="750570"/>
          </a:xfrm>
          <a:prstGeom prst="rect">
            <a:avLst/>
          </a:prstGeom>
        </p:spPr>
      </p:pic>
      <p:pic>
        <p:nvPicPr>
          <p:cNvPr id="228" name="picture 22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10415904" y="2046605"/>
            <a:ext cx="297866" cy="750569"/>
          </a:xfrm>
          <a:prstGeom prst="rect">
            <a:avLst/>
          </a:prstGeom>
        </p:spPr>
      </p:pic>
      <p:sp>
        <p:nvSpPr>
          <p:cNvPr id="229" name="textbox 229"/>
          <p:cNvSpPr/>
          <p:nvPr/>
        </p:nvSpPr>
        <p:spPr>
          <a:xfrm>
            <a:off x="2054818" y="2202889"/>
            <a:ext cx="586105" cy="43180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5000"/>
              </a:lnSpc>
            </a:pPr>
            <a:r>
              <a:rPr sz="140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召开</a:t>
            </a:r>
            <a:r>
              <a:rPr sz="140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题会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议</a:t>
            </a:r>
            <a:endParaRPr lang="en-US" altLang="en-US" sz="1400" dirty="0"/>
          </a:p>
        </p:txBody>
      </p:sp>
      <p:pic>
        <p:nvPicPr>
          <p:cNvPr id="230" name="picture 23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6736080" y="4431029"/>
            <a:ext cx="297865" cy="727075"/>
          </a:xfrm>
          <a:prstGeom prst="rect">
            <a:avLst/>
          </a:prstGeom>
        </p:spPr>
      </p:pic>
      <p:sp>
        <p:nvSpPr>
          <p:cNvPr id="231" name="textbox 231"/>
          <p:cNvSpPr/>
          <p:nvPr/>
        </p:nvSpPr>
        <p:spPr>
          <a:xfrm>
            <a:off x="9959675" y="2186956"/>
            <a:ext cx="561975" cy="43370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lang="en-US" altLang="en-US" sz="100" dirty="0"/>
          </a:p>
          <a:p>
            <a:pPr marL="12700" indent="635" algn="l" rtl="0" eaLnBrk="0">
              <a:lnSpc>
                <a:spcPct val="96000"/>
              </a:lnSpc>
            </a:pPr>
            <a:r>
              <a:rPr sz="14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一部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署</a:t>
            </a:r>
            <a:endParaRPr lang="en-US" altLang="en-US" sz="1400" dirty="0"/>
          </a:p>
        </p:txBody>
      </p:sp>
      <p:pic>
        <p:nvPicPr>
          <p:cNvPr id="232" name="picture 23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2667000" y="3107055"/>
            <a:ext cx="297865" cy="655954"/>
          </a:xfrm>
          <a:prstGeom prst="rect">
            <a:avLst/>
          </a:prstGeom>
        </p:spPr>
      </p:pic>
      <p:pic>
        <p:nvPicPr>
          <p:cNvPr id="233" name="picture 233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2658110" y="2096134"/>
            <a:ext cx="297865" cy="605790"/>
          </a:xfrm>
          <a:prstGeom prst="rect">
            <a:avLst/>
          </a:prstGeom>
        </p:spPr>
      </p:pic>
      <p:pic>
        <p:nvPicPr>
          <p:cNvPr id="234" name="picture 234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10631169" y="4393564"/>
            <a:ext cx="297866" cy="599440"/>
          </a:xfrm>
          <a:prstGeom prst="rect">
            <a:avLst/>
          </a:prstGeom>
        </p:spPr>
      </p:pic>
      <p:sp>
        <p:nvSpPr>
          <p:cNvPr id="235" name="textbox 235"/>
          <p:cNvSpPr/>
          <p:nvPr/>
        </p:nvSpPr>
        <p:spPr>
          <a:xfrm>
            <a:off x="4558731" y="3414786"/>
            <a:ext cx="834389" cy="24637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r>
              <a:rPr sz="150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计划审</a:t>
            </a:r>
            <a:r>
              <a:rPr sz="150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</a:t>
            </a:r>
            <a:endParaRPr lang="en-US" altLang="en-US" sz="1500" dirty="0"/>
          </a:p>
        </p:txBody>
      </p:sp>
      <p:sp>
        <p:nvSpPr>
          <p:cNvPr id="236" name="textbox 236"/>
          <p:cNvSpPr/>
          <p:nvPr/>
        </p:nvSpPr>
        <p:spPr>
          <a:xfrm>
            <a:off x="313756" y="3389967"/>
            <a:ext cx="834389" cy="24510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6000"/>
              </a:lnSpc>
            </a:pPr>
            <a:r>
              <a:rPr sz="150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计划编</a:t>
            </a:r>
            <a:r>
              <a:rPr sz="150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制</a:t>
            </a:r>
            <a:endParaRPr lang="en-US" altLang="en-US" sz="1500" dirty="0"/>
          </a:p>
        </p:txBody>
      </p:sp>
      <p:sp>
        <p:nvSpPr>
          <p:cNvPr id="237" name="textbox 237"/>
          <p:cNvSpPr/>
          <p:nvPr/>
        </p:nvSpPr>
        <p:spPr>
          <a:xfrm>
            <a:off x="8486206" y="3390574"/>
            <a:ext cx="834389" cy="24447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6000"/>
              </a:lnSpc>
            </a:pPr>
            <a:r>
              <a:rPr sz="150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计划执</a:t>
            </a:r>
            <a:r>
              <a:rPr sz="150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</a:t>
            </a:r>
            <a:endParaRPr lang="en-US" altLang="en-US" sz="1500" dirty="0"/>
          </a:p>
        </p:txBody>
      </p:sp>
      <p:sp>
        <p:nvSpPr>
          <p:cNvPr id="238" name="textbox 238"/>
          <p:cNvSpPr/>
          <p:nvPr/>
        </p:nvSpPr>
        <p:spPr>
          <a:xfrm>
            <a:off x="6045871" y="3447431"/>
            <a:ext cx="734059" cy="22034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1000"/>
              </a:lnSpc>
            </a:pPr>
            <a:r>
              <a:rPr sz="14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资源协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</a:t>
            </a:r>
            <a:endParaRPr lang="en-US" altLang="en-US" sz="1400" dirty="0"/>
          </a:p>
        </p:txBody>
      </p:sp>
      <p:sp>
        <p:nvSpPr>
          <p:cNvPr id="239" name="textbox 239"/>
          <p:cNvSpPr/>
          <p:nvPr/>
        </p:nvSpPr>
        <p:spPr>
          <a:xfrm>
            <a:off x="1965482" y="3343549"/>
            <a:ext cx="735965" cy="21970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1000"/>
              </a:lnSpc>
            </a:pPr>
            <a:r>
              <a:rPr sz="14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解平衡</a:t>
            </a:r>
            <a:endParaRPr lang="en-US" altLang="en-US" sz="1400" dirty="0"/>
          </a:p>
        </p:txBody>
      </p:sp>
      <p:sp>
        <p:nvSpPr>
          <p:cNvPr id="240" name="textbox 240"/>
          <p:cNvSpPr/>
          <p:nvPr/>
        </p:nvSpPr>
        <p:spPr>
          <a:xfrm>
            <a:off x="6091869" y="2332786"/>
            <a:ext cx="734694" cy="21844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0000"/>
              </a:lnSpc>
            </a:pPr>
            <a:r>
              <a:rPr sz="14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计划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协调</a:t>
            </a:r>
            <a:endParaRPr lang="en-US" altLang="en-US" sz="1400" dirty="0"/>
          </a:p>
        </p:txBody>
      </p:sp>
      <p:sp>
        <p:nvSpPr>
          <p:cNvPr id="241" name="textbox 241"/>
          <p:cNvSpPr/>
          <p:nvPr/>
        </p:nvSpPr>
        <p:spPr>
          <a:xfrm>
            <a:off x="6091512" y="4636230"/>
            <a:ext cx="557530" cy="21970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1000"/>
              </a:lnSpc>
            </a:pPr>
            <a:r>
              <a:rPr sz="14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控节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奏</a:t>
            </a:r>
            <a:endParaRPr lang="en-US" altLang="en-US" sz="1400" dirty="0"/>
          </a:p>
        </p:txBody>
      </p:sp>
      <p:sp>
        <p:nvSpPr>
          <p:cNvPr id="242" name="textbox 242"/>
          <p:cNvSpPr/>
          <p:nvPr/>
        </p:nvSpPr>
        <p:spPr>
          <a:xfrm>
            <a:off x="10043117" y="4556855"/>
            <a:ext cx="557530" cy="21970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1000"/>
              </a:lnSpc>
            </a:pPr>
            <a:r>
              <a:rPr sz="14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控风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险</a:t>
            </a:r>
            <a:endParaRPr lang="en-US" alt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3" name="table 243"/>
          <p:cNvGraphicFramePr>
            <a:graphicFrameLocks noGrp="1"/>
          </p:cNvGraphicFramePr>
          <p:nvPr/>
        </p:nvGraphicFramePr>
        <p:xfrm>
          <a:off x="685800" y="2122170"/>
          <a:ext cx="4871720" cy="4433570"/>
        </p:xfrm>
        <a:graphic>
          <a:graphicData uri="http://schemas.openxmlformats.org/drawingml/2006/table">
            <a:tbl>
              <a:tblPr/>
              <a:tblGrid>
                <a:gridCol w="4871720"/>
              </a:tblGrid>
              <a:tr h="44208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2000"/>
                        </a:lnSpc>
                      </a:pPr>
                      <a:endParaRPr lang="en-US" altLang="en-US" sz="1000" dirty="0"/>
                    </a:p>
                    <a:p>
                      <a:pPr marL="201930" indent="89535" algn="l" rtl="0" eaLnBrk="0">
                        <a:lnSpc>
                          <a:spcPct val="108000"/>
                        </a:lnSpc>
                        <a:spcBef>
                          <a:spcPts val="0"/>
                        </a:spcBef>
                      </a:pPr>
                      <a:r>
                        <a:rPr sz="150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一次设备停电</a:t>
                      </a:r>
                      <a:r>
                        <a:rPr sz="150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50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，覆盖多专业工</a:t>
                      </a:r>
                      <a:r>
                        <a:rPr sz="150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作</a:t>
                      </a: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，如预试、</a:t>
                      </a: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</a:t>
                      </a: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检修、</a:t>
                      </a: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</a:t>
                      </a:r>
                      <a:r>
                        <a:rPr sz="150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定检、</a:t>
                      </a:r>
                      <a:r>
                        <a:rPr sz="150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</a:t>
                      </a:r>
                      <a:r>
                        <a:rPr sz="150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技改、</a:t>
                      </a:r>
                      <a:r>
                        <a:rPr sz="150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</a:t>
                      </a:r>
                      <a:r>
                        <a:rPr sz="150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缺陷处</a:t>
                      </a: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理等。</a:t>
                      </a: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</a:t>
                      </a: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受停电时间影响</a:t>
                      </a: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，有</a:t>
                      </a: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</a:t>
                      </a:r>
                      <a:r>
                        <a:rPr sz="150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限工期内需协同多项作业同时开展</a:t>
                      </a:r>
                      <a:r>
                        <a:rPr sz="150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50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，现场作业</a:t>
                      </a:r>
                      <a:r>
                        <a:rPr sz="150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交</a:t>
                      </a: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</a:t>
                      </a:r>
                      <a:r>
                        <a:rPr sz="150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叉现象普遍</a:t>
                      </a:r>
                      <a:r>
                        <a:rPr sz="150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。</a:t>
                      </a:r>
                      <a:endParaRPr lang="en-US" altLang="en-US" sz="1500" dirty="0"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44" name="table 244"/>
          <p:cNvGraphicFramePr>
            <a:graphicFrameLocks noGrp="1"/>
          </p:cNvGraphicFramePr>
          <p:nvPr/>
        </p:nvGraphicFramePr>
        <p:xfrm>
          <a:off x="6577330" y="2122805"/>
          <a:ext cx="4871084" cy="4432934"/>
        </p:xfrm>
        <a:graphic>
          <a:graphicData uri="http://schemas.openxmlformats.org/drawingml/2006/table">
            <a:tbl>
              <a:tblPr/>
              <a:tblGrid>
                <a:gridCol w="4871084"/>
              </a:tblGrid>
              <a:tr h="442023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lang="en-US" altLang="en-US" sz="700" dirty="0"/>
                    </a:p>
                    <a:p>
                      <a:pPr marL="230505" indent="60325" algn="l" rtl="0" eaLnBrk="0">
                        <a:lnSpc>
                          <a:spcPct val="109000"/>
                        </a:lnSpc>
                        <a:spcBef>
                          <a:spcPts val="0"/>
                        </a:spcBef>
                      </a:pPr>
                      <a:r>
                        <a:rPr sz="150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结合作业计划编制</a:t>
                      </a:r>
                      <a:r>
                        <a:rPr sz="150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50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，提前梳理涉及交叉作业的</a:t>
                      </a:r>
                      <a:r>
                        <a:rPr sz="150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工</a:t>
                      </a: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</a:t>
                      </a:r>
                      <a:r>
                        <a:rPr sz="150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作任务</a:t>
                      </a:r>
                      <a:r>
                        <a:rPr sz="150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50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，考虑各项作业工期和风险</a:t>
                      </a:r>
                      <a:r>
                        <a:rPr sz="150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50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，在</a:t>
                      </a:r>
                      <a:r>
                        <a:rPr sz="1500" spc="60" dirty="0">
                          <a:ln w="3175" cap="flat" cmpd="sng">
                            <a:solidFill>
                              <a:srgbClr val="00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时间、</a:t>
                      </a:r>
                      <a:r>
                        <a:rPr sz="150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</a:t>
                      </a:r>
                      <a:r>
                        <a:rPr sz="1500" spc="20" dirty="0">
                          <a:ln w="3175" cap="flat" cmpd="sng">
                            <a:solidFill>
                              <a:srgbClr val="00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空</a:t>
                      </a: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</a:t>
                      </a:r>
                      <a:r>
                        <a:rPr sz="1500" spc="70" dirty="0">
                          <a:ln w="3175" cap="flat" cmpd="sng">
                            <a:solidFill>
                              <a:srgbClr val="00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间维度</a:t>
                      </a:r>
                      <a:r>
                        <a:rPr sz="150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合理优化</a:t>
                      </a:r>
                      <a:r>
                        <a:rPr sz="150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50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，减少交叉作业风</a:t>
                      </a:r>
                      <a:r>
                        <a:rPr sz="150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险</a:t>
                      </a: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。</a:t>
                      </a:r>
                      <a:endParaRPr lang="en-US" altLang="en-US" sz="1500" dirty="0"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245" name="picture 24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794004" y="3860292"/>
            <a:ext cx="4652771" cy="2494787"/>
          </a:xfrm>
          <a:prstGeom prst="rect">
            <a:avLst/>
          </a:prstGeom>
        </p:spPr>
      </p:pic>
      <p:pic>
        <p:nvPicPr>
          <p:cNvPr id="246" name="picture 2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653784" y="3140964"/>
            <a:ext cx="4718304" cy="1749551"/>
          </a:xfrm>
          <a:prstGeom prst="rect">
            <a:avLst/>
          </a:prstGeom>
        </p:spPr>
      </p:pic>
      <p:pic>
        <p:nvPicPr>
          <p:cNvPr id="247" name="picture 24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672071" y="5157216"/>
            <a:ext cx="4620767" cy="1281683"/>
          </a:xfrm>
          <a:prstGeom prst="rect">
            <a:avLst/>
          </a:prstGeom>
        </p:spPr>
      </p:pic>
      <p:sp>
        <p:nvSpPr>
          <p:cNvPr id="248" name="textbox 248"/>
          <p:cNvSpPr/>
          <p:nvPr/>
        </p:nvSpPr>
        <p:spPr>
          <a:xfrm>
            <a:off x="800049" y="944981"/>
            <a:ext cx="8254365" cy="42799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3165"/>
              </a:lnSpc>
            </a:pPr>
            <a:r>
              <a:rPr sz="2300" spc="-10" dirty="0">
                <a:ln w="6350" cap="flat" cmpd="sng">
                  <a:solidFill>
                    <a:srgbClr val="FF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</a:t>
            </a:r>
            <a:r>
              <a:rPr sz="2300" spc="-1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300" spc="-10" dirty="0">
                <a:ln w="6350" cap="flat" cmpd="sng">
                  <a:solidFill>
                    <a:srgbClr val="FF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sz="2300" spc="0" dirty="0">
                <a:ln w="6350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多专业作业计划协同配合</a:t>
            </a:r>
            <a:r>
              <a:rPr sz="23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300" spc="0" dirty="0">
                <a:ln w="6350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，在作业时间、</a:t>
            </a:r>
            <a:r>
              <a:rPr sz="23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300" spc="0" dirty="0">
                <a:ln w="6350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空间合理优化</a:t>
            </a:r>
            <a:endParaRPr lang="en-US" altLang="en-US" sz="2300" dirty="0"/>
          </a:p>
        </p:txBody>
      </p:sp>
      <p:sp>
        <p:nvSpPr>
          <p:cNvPr id="249" name="textbox 249"/>
          <p:cNvSpPr/>
          <p:nvPr/>
        </p:nvSpPr>
        <p:spPr>
          <a:xfrm>
            <a:off x="128051" y="108317"/>
            <a:ext cx="4330700" cy="49403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87325" algn="l" rtl="0" eaLnBrk="0">
              <a:lnSpc>
                <a:spcPts val="3685"/>
              </a:lnSpc>
            </a:pPr>
            <a:r>
              <a:rPr sz="2700" spc="230" dirty="0">
                <a:ln w="6350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(七)</a:t>
            </a:r>
            <a:r>
              <a:rPr sz="2700" spc="2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spc="230" dirty="0">
                <a:ln w="6350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加强多专业计划协</a:t>
            </a:r>
            <a:r>
              <a:rPr sz="2700" spc="150" dirty="0">
                <a:ln w="6350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</a:t>
            </a:r>
            <a:endParaRPr lang="en-US" altLang="en-US" sz="2700" dirty="0"/>
          </a:p>
        </p:txBody>
      </p:sp>
      <p:graphicFrame>
        <p:nvGraphicFramePr>
          <p:cNvPr id="250" name="table 250"/>
          <p:cNvGraphicFramePr>
            <a:graphicFrameLocks noGrp="1"/>
          </p:cNvGraphicFramePr>
          <p:nvPr/>
        </p:nvGraphicFramePr>
        <p:xfrm>
          <a:off x="1905317" y="1719262"/>
          <a:ext cx="2600325" cy="427354"/>
        </p:xfrm>
        <a:graphic>
          <a:graphicData uri="http://schemas.openxmlformats.org/drawingml/2006/table">
            <a:tbl>
              <a:tblPr/>
              <a:tblGrid>
                <a:gridCol w="2600325"/>
              </a:tblGrid>
              <a:tr h="39877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lang="en-US" altLang="en-US" sz="500" dirty="0"/>
                    </a:p>
                    <a:p>
                      <a:pPr marL="934720" algn="l" rtl="0" eaLnBrk="0">
                        <a:lnSpc>
                          <a:spcPct val="91000"/>
                        </a:lnSpc>
                        <a:spcBef>
                          <a:spcPts val="0"/>
                        </a:spcBef>
                      </a:pPr>
                      <a:r>
                        <a:rPr sz="2000" spc="30" dirty="0">
                          <a:ln w="3175" cap="flat" cmpd="sng">
                            <a:solidFill>
                              <a:srgbClr val="FFFFFF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案</a:t>
                      </a:r>
                      <a:r>
                        <a:rPr sz="200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000" spc="30" dirty="0">
                          <a:ln w="3175" cap="flat" cmpd="sng">
                            <a:solidFill>
                              <a:srgbClr val="FFFFFF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例</a:t>
                      </a:r>
                      <a:r>
                        <a:rPr sz="200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000" spc="10" dirty="0">
                          <a:ln w="3175" cap="flat" cmpd="sng">
                            <a:solidFill>
                              <a:srgbClr val="FFFFFF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endParaRPr lang="en-US" altLang="en-US" sz="2000" dirty="0"/>
                    </a:p>
                  </a:txBody>
                  <a:tcPr marL="0" marR="0" marT="0" marB="0" vert="horz">
                    <a:lnL w="2857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1" name="table 251"/>
          <p:cNvGraphicFramePr>
            <a:graphicFrameLocks noGrp="1"/>
          </p:cNvGraphicFramePr>
          <p:nvPr/>
        </p:nvGraphicFramePr>
        <p:xfrm>
          <a:off x="7712709" y="1718627"/>
          <a:ext cx="2600325" cy="426720"/>
        </p:xfrm>
        <a:graphic>
          <a:graphicData uri="http://schemas.openxmlformats.org/drawingml/2006/table">
            <a:tbl>
              <a:tblPr/>
              <a:tblGrid>
                <a:gridCol w="2600325"/>
              </a:tblGrid>
              <a:tr h="39814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lang="en-US" altLang="en-US" sz="500" dirty="0"/>
                    </a:p>
                    <a:p>
                      <a:pPr marL="680085" algn="l" rtl="0" eaLnBrk="0">
                        <a:lnSpc>
                          <a:spcPct val="92000"/>
                        </a:lnSpc>
                        <a:spcBef>
                          <a:spcPts val="5"/>
                        </a:spcBef>
                      </a:pPr>
                      <a:r>
                        <a:rPr sz="2000" spc="10" dirty="0">
                          <a:ln w="3175" cap="flat" cmpd="sng">
                            <a:solidFill>
                              <a:srgbClr val="FFFFFF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风</a:t>
                      </a:r>
                      <a:r>
                        <a:rPr sz="200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000" spc="10" dirty="0">
                          <a:ln w="3175" cap="flat" cmpd="sng">
                            <a:solidFill>
                              <a:srgbClr val="FFFFFF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险</a:t>
                      </a:r>
                      <a:r>
                        <a:rPr sz="200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000" spc="0" dirty="0">
                          <a:ln w="3175" cap="flat" cmpd="sng">
                            <a:solidFill>
                              <a:srgbClr val="FFFFFF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释</a:t>
                      </a:r>
                      <a:r>
                        <a:rPr sz="200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000" spc="0" dirty="0">
                          <a:ln w="3175" cap="flat" cmpd="sng">
                            <a:solidFill>
                              <a:srgbClr val="FFFFFF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义</a:t>
                      </a:r>
                      <a:endParaRPr lang="en-US" altLang="en-US" sz="2000" dirty="0"/>
                    </a:p>
                  </a:txBody>
                  <a:tcPr marL="0" marR="0" marT="0" marB="0" vert="horz">
                    <a:lnL w="2857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</a:tr>
            </a:tbl>
          </a:graphicData>
        </a:graphic>
      </p:graphicFrame>
      <p:pic>
        <p:nvPicPr>
          <p:cNvPr id="252" name="picture 25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0" y="650151"/>
            <a:ext cx="12192000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3" name="table 253"/>
          <p:cNvGraphicFramePr>
            <a:graphicFrameLocks noGrp="1"/>
          </p:cNvGraphicFramePr>
          <p:nvPr/>
        </p:nvGraphicFramePr>
        <p:xfrm>
          <a:off x="6577330" y="1718627"/>
          <a:ext cx="4871085" cy="4837429"/>
        </p:xfrm>
        <a:graphic>
          <a:graphicData uri="http://schemas.openxmlformats.org/drawingml/2006/table">
            <a:tbl>
              <a:tblPr/>
              <a:tblGrid>
                <a:gridCol w="1149350"/>
                <a:gridCol w="2572385"/>
                <a:gridCol w="1022350"/>
                <a:gridCol w="127000"/>
              </a:tblGrid>
              <a:tr h="4064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 vert="horz">
                    <a:lnL>
                      <a:noFill/>
                    </a:lnL>
                    <a:lnR w="2857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lang="en-US" altLang="en-US" sz="500" dirty="0"/>
                    </a:p>
                    <a:p>
                      <a:pPr marL="666115" algn="l" rtl="0" eaLnBrk="0">
                        <a:lnSpc>
                          <a:spcPct val="92000"/>
                        </a:lnSpc>
                        <a:spcBef>
                          <a:spcPts val="5"/>
                        </a:spcBef>
                      </a:pPr>
                      <a:r>
                        <a:rPr sz="2000" spc="10" dirty="0">
                          <a:ln w="3175" cap="flat" cmpd="sng">
                            <a:solidFill>
                              <a:srgbClr val="FFFFFF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风</a:t>
                      </a:r>
                      <a:r>
                        <a:rPr sz="200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000" spc="10" dirty="0">
                          <a:ln w="3175" cap="flat" cmpd="sng">
                            <a:solidFill>
                              <a:srgbClr val="FFFFFF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险</a:t>
                      </a:r>
                      <a:r>
                        <a:rPr sz="200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000" spc="0" dirty="0">
                          <a:ln w="3175" cap="flat" cmpd="sng">
                            <a:solidFill>
                              <a:srgbClr val="FFFFFF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释</a:t>
                      </a:r>
                      <a:r>
                        <a:rPr sz="200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000" spc="0" dirty="0">
                          <a:ln w="3175" cap="flat" cmpd="sng">
                            <a:solidFill>
                              <a:srgbClr val="FFFFFF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义</a:t>
                      </a:r>
                      <a:endParaRPr lang="en-US" altLang="en-US" sz="2000" dirty="0"/>
                    </a:p>
                  </a:txBody>
                  <a:tcPr marL="0" marR="0" marT="0" marB="0" vert="horz">
                    <a:lnL w="2857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 vert="horz">
                    <a:lnL w="2857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2857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4854">
                <a:tc gridSpan="4"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lang="en-US" altLang="en-US" sz="700" dirty="0"/>
                    </a:p>
                    <a:p>
                      <a:pPr algn="l" rtl="0" eaLnBrk="0">
                        <a:lnSpc>
                          <a:spcPct val="6000"/>
                        </a:lnSpc>
                      </a:pPr>
                      <a:endParaRPr lang="en-US" altLang="en-US" sz="100" dirty="0"/>
                    </a:p>
                    <a:p>
                      <a:pPr marL="201930" indent="87630" algn="l" rtl="0" eaLnBrk="0">
                        <a:lnSpc>
                          <a:spcPct val="108000"/>
                        </a:lnSpc>
                      </a:pPr>
                      <a:r>
                        <a:rPr sz="150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各专业通过作业计划制定、</a:t>
                      </a:r>
                      <a:r>
                        <a:rPr sz="150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</a:t>
                      </a:r>
                      <a:r>
                        <a:rPr sz="150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分解过程</a:t>
                      </a:r>
                      <a:r>
                        <a:rPr sz="150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，推进基准、</a:t>
                      </a: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</a:t>
                      </a:r>
                      <a:r>
                        <a:rPr sz="150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基于问题和持续作业风险评估。</a:t>
                      </a:r>
                      <a:r>
                        <a:rPr sz="150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</a:t>
                      </a:r>
                      <a:r>
                        <a:rPr sz="150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多专业协同</a:t>
                      </a:r>
                      <a:r>
                        <a:rPr sz="150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作</a:t>
                      </a: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业</a:t>
                      </a: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</a:t>
                      </a:r>
                      <a:r>
                        <a:rPr sz="150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时</a:t>
                      </a:r>
                      <a:r>
                        <a:rPr sz="150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50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，作业前未能评估交叉作业存在的的风险</a:t>
                      </a:r>
                      <a:r>
                        <a:rPr sz="150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50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</a:t>
                      </a: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并</a:t>
                      </a: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</a:t>
                      </a:r>
                      <a:r>
                        <a:rPr sz="150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制定相应的管控措施。</a:t>
                      </a:r>
                      <a:r>
                        <a:rPr sz="150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</a:t>
                      </a:r>
                      <a:r>
                        <a:rPr sz="150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试验人员测试前未核</a:t>
                      </a:r>
                      <a:r>
                        <a:rPr sz="150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对</a:t>
                      </a: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二</a:t>
                      </a: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</a:t>
                      </a:r>
                      <a:r>
                        <a:rPr sz="150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次安全措施</a:t>
                      </a:r>
                      <a:r>
                        <a:rPr sz="150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50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，误将电流回路输入至运行的保护</a:t>
                      </a:r>
                      <a:r>
                        <a:rPr sz="150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装</a:t>
                      </a: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</a:t>
                      </a:r>
                      <a:r>
                        <a:rPr sz="150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置中</a:t>
                      </a:r>
                      <a:r>
                        <a:rPr sz="150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50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，造成保护误动</a:t>
                      </a:r>
                      <a:r>
                        <a:rPr sz="150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作</a:t>
                      </a: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。</a:t>
                      </a:r>
                      <a:endParaRPr lang="en-US" altLang="en-US" sz="1500" dirty="0"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16175"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4" name="table 254"/>
          <p:cNvGraphicFramePr>
            <a:graphicFrameLocks noGrp="1"/>
          </p:cNvGraphicFramePr>
          <p:nvPr/>
        </p:nvGraphicFramePr>
        <p:xfrm>
          <a:off x="685800" y="2122170"/>
          <a:ext cx="4871720" cy="4433570"/>
        </p:xfrm>
        <a:graphic>
          <a:graphicData uri="http://schemas.openxmlformats.org/drawingml/2006/table">
            <a:tbl>
              <a:tblPr/>
              <a:tblGrid>
                <a:gridCol w="504190"/>
                <a:gridCol w="3723640"/>
                <a:gridCol w="643890"/>
              </a:tblGrid>
              <a:tr h="1511935">
                <a:tc rowSpan="3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210">
                <a:tc vMerge="1">
                  <a:tcPr marL="0" marR="0" marT="0" marB="0" vert="horz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 vMerge="1">
                  <a:tcPr marL="0" marR="0" marT="0" marB="0" vert="horz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775"/>
                        </a:lnSpc>
                      </a:pPr>
                      <a:endParaRPr lang="en-US" altLang="en-US" sz="600" dirty="0"/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255" name="picture 25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6704076" y="4149852"/>
            <a:ext cx="4608576" cy="2282951"/>
          </a:xfrm>
          <a:prstGeom prst="rect">
            <a:avLst/>
          </a:prstGeom>
        </p:spPr>
      </p:pic>
      <p:pic>
        <p:nvPicPr>
          <p:cNvPr id="256" name="picture 2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199388" y="3643883"/>
            <a:ext cx="3704844" cy="2804160"/>
          </a:xfrm>
          <a:prstGeom prst="rect">
            <a:avLst/>
          </a:prstGeom>
        </p:spPr>
      </p:pic>
      <p:graphicFrame>
        <p:nvGraphicFramePr>
          <p:cNvPr id="257" name="table 257"/>
          <p:cNvGraphicFramePr>
            <a:graphicFrameLocks noGrp="1"/>
          </p:cNvGraphicFramePr>
          <p:nvPr/>
        </p:nvGraphicFramePr>
        <p:xfrm>
          <a:off x="1905317" y="1719262"/>
          <a:ext cx="2600325" cy="427354"/>
        </p:xfrm>
        <a:graphic>
          <a:graphicData uri="http://schemas.openxmlformats.org/drawingml/2006/table">
            <a:tbl>
              <a:tblPr/>
              <a:tblGrid>
                <a:gridCol w="2600325"/>
              </a:tblGrid>
              <a:tr h="39877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lang="en-US" altLang="en-US" sz="500" dirty="0"/>
                    </a:p>
                    <a:p>
                      <a:pPr marL="934720" algn="l" rtl="0" eaLnBrk="0">
                        <a:lnSpc>
                          <a:spcPct val="91000"/>
                        </a:lnSpc>
                        <a:spcBef>
                          <a:spcPts val="0"/>
                        </a:spcBef>
                      </a:pPr>
                      <a:r>
                        <a:rPr sz="2000" spc="-10" dirty="0">
                          <a:ln w="3175" cap="flat" cmpd="sng">
                            <a:solidFill>
                              <a:srgbClr val="FFFFFF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案</a:t>
                      </a:r>
                      <a:r>
                        <a:rPr sz="200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000" spc="0" dirty="0">
                          <a:ln w="3175" cap="flat" cmpd="sng">
                            <a:solidFill>
                              <a:srgbClr val="FFFFFF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例</a:t>
                      </a:r>
                      <a:endParaRPr lang="en-US" altLang="en-US" sz="2000" dirty="0"/>
                    </a:p>
                  </a:txBody>
                  <a:tcPr marL="0" marR="0" marT="0" marB="0" vert="horz">
                    <a:lnL w="2857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</a:tr>
            </a:tbl>
          </a:graphicData>
        </a:graphic>
      </p:graphicFrame>
      <p:sp>
        <p:nvSpPr>
          <p:cNvPr id="258" name="textbox 258"/>
          <p:cNvSpPr/>
          <p:nvPr/>
        </p:nvSpPr>
        <p:spPr>
          <a:xfrm>
            <a:off x="904306" y="1815350"/>
            <a:ext cx="4436745" cy="156971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lang="en-US" altLang="en-US" sz="100" dirty="0"/>
          </a:p>
          <a:p>
            <a:pPr marL="2604770" algn="l" rtl="0" eaLnBrk="0">
              <a:lnSpc>
                <a:spcPct val="85000"/>
              </a:lnSpc>
            </a:pPr>
            <a:r>
              <a:rPr sz="2000" spc="0" dirty="0">
                <a:ln w="3175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lang="en-US" altLang="en-US" sz="2000" dirty="0"/>
          </a:p>
          <a:p>
            <a:pPr algn="l" rtl="0" eaLnBrk="0">
              <a:lnSpc>
                <a:spcPct val="157000"/>
              </a:lnSpc>
            </a:pPr>
            <a:endParaRPr lang="en-US" altLang="en-US" sz="1000" dirty="0"/>
          </a:p>
          <a:p>
            <a:pPr algn="l" rtl="0" eaLnBrk="0">
              <a:lnSpc>
                <a:spcPct val="125000"/>
              </a:lnSpc>
            </a:pPr>
            <a:endParaRPr lang="en-US" altLang="en-US" sz="300" dirty="0"/>
          </a:p>
          <a:p>
            <a:pPr marL="12700" indent="6985" algn="l" rtl="0" eaLnBrk="0">
              <a:lnSpc>
                <a:spcPct val="108000"/>
              </a:lnSpc>
              <a:spcBef>
                <a:spcPts val="0"/>
              </a:spcBef>
            </a:pPr>
            <a:r>
              <a:rPr sz="1500" spc="1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2022年6月某送变电公司作业人员对电流互</a:t>
            </a:r>
            <a:r>
              <a:rPr sz="1500" spc="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</a:t>
            </a:r>
            <a:r>
              <a:rPr sz="15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器</a:t>
            </a:r>
            <a:r>
              <a:rPr sz="15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直阻、</a:t>
            </a:r>
            <a:r>
              <a:rPr sz="150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50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变比、</a:t>
            </a:r>
            <a:r>
              <a:rPr sz="150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50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励磁特性试验工作</a:t>
            </a:r>
            <a:r>
              <a:rPr sz="150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，将试验电流</a:t>
            </a:r>
            <a:r>
              <a:rPr sz="15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</a:t>
            </a:r>
            <a:r>
              <a:rPr sz="15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接从5012开关</a:t>
            </a:r>
            <a:r>
              <a:rPr sz="15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sz="150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相电流互感器接线盒加到2号主</a:t>
            </a:r>
            <a:r>
              <a:rPr sz="150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变</a:t>
            </a:r>
            <a:r>
              <a:rPr sz="15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r>
              <a:rPr sz="150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套保护中</a:t>
            </a:r>
            <a:r>
              <a:rPr sz="150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，导致2号主变</a:t>
            </a:r>
            <a:r>
              <a:rPr sz="15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r>
              <a:rPr sz="150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套保护动作</a:t>
            </a:r>
            <a:r>
              <a:rPr sz="150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跳</a:t>
            </a:r>
            <a:r>
              <a:rPr sz="15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闸。</a:t>
            </a:r>
            <a:endParaRPr lang="en-US" altLang="en-US" sz="1500" dirty="0"/>
          </a:p>
        </p:txBody>
      </p:sp>
      <p:sp>
        <p:nvSpPr>
          <p:cNvPr id="259" name="textbox 259"/>
          <p:cNvSpPr/>
          <p:nvPr/>
        </p:nvSpPr>
        <p:spPr>
          <a:xfrm>
            <a:off x="800049" y="944981"/>
            <a:ext cx="7035165" cy="42799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3165"/>
              </a:lnSpc>
            </a:pPr>
            <a:r>
              <a:rPr sz="2300" spc="40" dirty="0">
                <a:ln w="6350" cap="flat" cmpd="sng">
                  <a:solidFill>
                    <a:srgbClr val="FF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</a:t>
            </a:r>
            <a:r>
              <a:rPr sz="2300" spc="4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300" spc="40" dirty="0">
                <a:ln w="6350" cap="flat" cmpd="sng">
                  <a:solidFill>
                    <a:srgbClr val="FF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sz="2300" spc="40" dirty="0">
                <a:ln w="6350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涉及二次回路作业</a:t>
            </a:r>
            <a:r>
              <a:rPr sz="230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300" spc="40" dirty="0">
                <a:ln w="6350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，未开展二次作业风险</a:t>
            </a:r>
            <a:r>
              <a:rPr sz="2300" spc="0" dirty="0">
                <a:ln w="6350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评估</a:t>
            </a:r>
            <a:endParaRPr lang="en-US" altLang="en-US" sz="2300" dirty="0"/>
          </a:p>
        </p:txBody>
      </p:sp>
      <p:sp>
        <p:nvSpPr>
          <p:cNvPr id="260" name="textbox 260"/>
          <p:cNvSpPr/>
          <p:nvPr/>
        </p:nvSpPr>
        <p:spPr>
          <a:xfrm>
            <a:off x="128051" y="108317"/>
            <a:ext cx="4330700" cy="49403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87325" algn="l" rtl="0" eaLnBrk="0">
              <a:lnSpc>
                <a:spcPts val="3685"/>
              </a:lnSpc>
            </a:pPr>
            <a:r>
              <a:rPr sz="2700" spc="230" dirty="0">
                <a:ln w="6350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(七)</a:t>
            </a:r>
            <a:r>
              <a:rPr sz="2700" spc="2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spc="230" dirty="0">
                <a:ln w="6350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加强多专业计划协</a:t>
            </a:r>
            <a:r>
              <a:rPr sz="2700" spc="150" dirty="0">
                <a:ln w="6350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</a:t>
            </a:r>
            <a:endParaRPr lang="en-US" altLang="en-US" sz="2700" dirty="0"/>
          </a:p>
        </p:txBody>
      </p:sp>
      <p:pic>
        <p:nvPicPr>
          <p:cNvPr id="261" name="picture 26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650151"/>
            <a:ext cx="12192000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2" name="table 262"/>
          <p:cNvGraphicFramePr>
            <a:graphicFrameLocks noGrp="1"/>
          </p:cNvGraphicFramePr>
          <p:nvPr/>
        </p:nvGraphicFramePr>
        <p:xfrm>
          <a:off x="685800" y="2122170"/>
          <a:ext cx="4871720" cy="4433570"/>
        </p:xfrm>
        <a:graphic>
          <a:graphicData uri="http://schemas.openxmlformats.org/drawingml/2006/table">
            <a:tbl>
              <a:tblPr/>
              <a:tblGrid>
                <a:gridCol w="4871720"/>
              </a:tblGrid>
              <a:tr h="44208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3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lang="en-US" altLang="en-US" sz="100" dirty="0"/>
                    </a:p>
                    <a:p>
                      <a:pPr marL="237490" indent="250825" algn="l" rtl="0" eaLnBrk="0">
                        <a:lnSpc>
                          <a:spcPct val="106000"/>
                        </a:lnSpc>
                      </a:pPr>
                      <a:r>
                        <a:rPr sz="150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2024年6月某供电局试验班组人员对电流</a:t>
                      </a:r>
                      <a:r>
                        <a:rPr sz="150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互</a:t>
                      </a: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感</a:t>
                      </a: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</a:t>
                      </a:r>
                      <a:r>
                        <a:rPr sz="150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器励磁特性试验时</a:t>
                      </a:r>
                      <a:r>
                        <a:rPr sz="150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50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，未正确执行二次措施</a:t>
                      </a:r>
                      <a:r>
                        <a:rPr sz="150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50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</a:t>
                      </a:r>
                      <a:r>
                        <a:rPr sz="150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将</a:t>
                      </a: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试</a:t>
                      </a: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</a:t>
                      </a:r>
                      <a:r>
                        <a:rPr sz="150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验电流误串入500</a:t>
                      </a: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kV</a:t>
                      </a:r>
                      <a:r>
                        <a:rPr sz="150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漫昆</a:t>
                      </a: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II</a:t>
                      </a:r>
                      <a:r>
                        <a:rPr sz="150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线路主一保护</a:t>
                      </a:r>
                      <a:r>
                        <a:rPr sz="150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50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，导致</a:t>
                      </a:r>
                      <a:r>
                        <a:rPr sz="150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保</a:t>
                      </a: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</a:t>
                      </a:r>
                      <a:r>
                        <a:rPr sz="150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护跳闸</a:t>
                      </a:r>
                      <a:r>
                        <a:rPr sz="150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。</a:t>
                      </a:r>
                      <a:endParaRPr lang="en-US" altLang="en-US" sz="1500" dirty="0"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63" name="table 263"/>
          <p:cNvGraphicFramePr>
            <a:graphicFrameLocks noGrp="1"/>
          </p:cNvGraphicFramePr>
          <p:nvPr/>
        </p:nvGraphicFramePr>
        <p:xfrm>
          <a:off x="6577330" y="2122805"/>
          <a:ext cx="4871084" cy="4432934"/>
        </p:xfrm>
        <a:graphic>
          <a:graphicData uri="http://schemas.openxmlformats.org/drawingml/2006/table">
            <a:tbl>
              <a:tblPr/>
              <a:tblGrid>
                <a:gridCol w="4871084"/>
              </a:tblGrid>
              <a:tr h="442023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4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lang="en-US" altLang="en-US" sz="100" dirty="0"/>
                    </a:p>
                    <a:p>
                      <a:pPr marL="230505" indent="241300" algn="l" rtl="0" eaLnBrk="0">
                        <a:lnSpc>
                          <a:spcPct val="108000"/>
                        </a:lnSpc>
                      </a:pPr>
                      <a:r>
                        <a:rPr sz="150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作业计划编制时根据现场勘察情况</a:t>
                      </a:r>
                      <a:r>
                        <a:rPr sz="150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50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，综合</a:t>
                      </a:r>
                      <a:r>
                        <a:rPr sz="150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考</a:t>
                      </a: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虑</a:t>
                      </a: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</a:t>
                      </a:r>
                      <a:r>
                        <a:rPr sz="150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作业类型和人员能力、</a:t>
                      </a:r>
                      <a:r>
                        <a:rPr sz="150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</a:t>
                      </a:r>
                      <a:r>
                        <a:rPr sz="150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作业环境、</a:t>
                      </a:r>
                      <a:r>
                        <a:rPr sz="150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</a:t>
                      </a:r>
                      <a:r>
                        <a:rPr sz="150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作业时段等</a:t>
                      </a:r>
                      <a:r>
                        <a:rPr sz="150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因</a:t>
                      </a: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</a:t>
                      </a:r>
                      <a:r>
                        <a:rPr sz="150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素</a:t>
                      </a:r>
                      <a:r>
                        <a:rPr sz="150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50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，开展场景式风险评估初评</a:t>
                      </a:r>
                      <a:r>
                        <a:rPr sz="150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50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，作业前开展</a:t>
                      </a:r>
                      <a:r>
                        <a:rPr sz="150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场</a:t>
                      </a: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景</a:t>
                      </a: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</a:t>
                      </a:r>
                      <a:r>
                        <a:rPr sz="150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式持续作业风险评估详评。</a:t>
                      </a:r>
                      <a:r>
                        <a:rPr sz="150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</a:t>
                      </a:r>
                      <a:r>
                        <a:rPr sz="150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该作业风险评估</a:t>
                      </a:r>
                      <a:r>
                        <a:rPr sz="150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为</a:t>
                      </a: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中</a:t>
                      </a: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</a:t>
                      </a:r>
                      <a:r>
                        <a:rPr sz="150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风险</a:t>
                      </a:r>
                      <a:r>
                        <a:rPr sz="150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50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，管控人员未按中风险管控到位标准要求</a:t>
                      </a:r>
                      <a:r>
                        <a:rPr sz="150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开</a:t>
                      </a: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</a:t>
                      </a:r>
                      <a:r>
                        <a:rPr sz="150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展作业现场管控</a:t>
                      </a:r>
                      <a:r>
                        <a:rPr sz="150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50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，未按监督计划开展现场监督</a:t>
                      </a:r>
                      <a:r>
                        <a:rPr sz="150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50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</a:t>
                      </a: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</a:t>
                      </a:r>
                      <a:r>
                        <a:rPr sz="150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关键环节监督管控失效</a:t>
                      </a:r>
                      <a:r>
                        <a:rPr sz="150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。</a:t>
                      </a:r>
                      <a:endParaRPr lang="en-US" altLang="en-US" sz="1500" dirty="0"/>
                    </a:p>
                    <a:p>
                      <a:pPr algn="l" rtl="0" eaLnBrk="0">
                        <a:lnSpc>
                          <a:spcPct val="128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29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26000"/>
                        </a:lnSpc>
                      </a:pPr>
                      <a:endParaRPr lang="en-US" altLang="en-US" sz="300" dirty="0"/>
                    </a:p>
                    <a:p>
                      <a:pPr marL="330835" indent="242570" algn="l" rtl="0" eaLnBrk="0">
                        <a:lnSpc>
                          <a:spcPct val="107000"/>
                        </a:lnSpc>
                        <a:spcBef>
                          <a:spcPts val="0"/>
                        </a:spcBef>
                      </a:pPr>
                      <a:r>
                        <a:rPr sz="150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作业计划应层层分解平衡合理调配作业资源</a:t>
                      </a:r>
                      <a:r>
                        <a:rPr sz="150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</a:t>
                      </a: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</a:t>
                      </a:r>
                      <a:r>
                        <a:rPr sz="150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现场作业人员安排不合理。</a:t>
                      </a:r>
                      <a:r>
                        <a:rPr sz="150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</a:t>
                      </a:r>
                      <a:r>
                        <a:rPr sz="150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现场作业人员中</a:t>
                      </a:r>
                      <a:r>
                        <a:rPr sz="150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仅</a:t>
                      </a: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工</a:t>
                      </a: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</a:t>
                      </a:r>
                      <a:r>
                        <a:rPr sz="150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作负责人开展过3/2接线的电流互感器励磁特</a:t>
                      </a:r>
                      <a:r>
                        <a:rPr sz="150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性</a:t>
                      </a: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试</a:t>
                      </a: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</a:t>
                      </a:r>
                      <a:r>
                        <a:rPr sz="150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验</a:t>
                      </a:r>
                      <a:r>
                        <a:rPr sz="150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50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，其余工作班成员均为初级作业员。</a:t>
                      </a:r>
                      <a:r>
                        <a:rPr sz="150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</a:t>
                      </a:r>
                      <a:r>
                        <a:rPr sz="150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作业风</a:t>
                      </a:r>
                      <a:r>
                        <a:rPr sz="150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险</a:t>
                      </a: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</a:t>
                      </a:r>
                      <a:r>
                        <a:rPr sz="150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评估以及现场安全交代中均未辨识二分之三接</a:t>
                      </a:r>
                      <a:r>
                        <a:rPr sz="150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线</a:t>
                      </a: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</a:t>
                      </a:r>
                      <a:r>
                        <a:rPr sz="150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方式开展电流互感器特性试验二次安全措施执</a:t>
                      </a:r>
                      <a:r>
                        <a:rPr sz="150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行</a:t>
                      </a: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</a:t>
                      </a:r>
                      <a:r>
                        <a:rPr sz="150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不到位可能带来的误动作风</a:t>
                      </a:r>
                      <a:r>
                        <a:rPr sz="150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险</a:t>
                      </a:r>
                      <a:r>
                        <a:rPr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。</a:t>
                      </a:r>
                      <a:endParaRPr lang="en-US" altLang="en-US" sz="1500" dirty="0"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264" name="picture 26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127760" y="3572256"/>
            <a:ext cx="3863340" cy="2881883"/>
          </a:xfrm>
          <a:prstGeom prst="rect">
            <a:avLst/>
          </a:prstGeom>
        </p:spPr>
      </p:pic>
      <p:sp>
        <p:nvSpPr>
          <p:cNvPr id="265" name="textbox 265"/>
          <p:cNvSpPr/>
          <p:nvPr/>
        </p:nvSpPr>
        <p:spPr>
          <a:xfrm>
            <a:off x="800049" y="944981"/>
            <a:ext cx="7644765" cy="42799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3165"/>
              </a:lnSpc>
            </a:pPr>
            <a:r>
              <a:rPr sz="2300" spc="20" dirty="0">
                <a:ln w="6350" cap="flat" cmpd="sng">
                  <a:solidFill>
                    <a:srgbClr val="FF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</a:t>
            </a:r>
            <a:r>
              <a:rPr sz="2300" spc="2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300" spc="20" dirty="0">
                <a:ln w="6350" cap="flat" cmpd="sng">
                  <a:solidFill>
                    <a:srgbClr val="FF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sz="2300" spc="20" dirty="0">
                <a:ln w="6350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二次作业</a:t>
            </a:r>
            <a:r>
              <a:rPr sz="230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300" spc="20" dirty="0">
                <a:ln w="6350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，未落实监督计划</a:t>
            </a:r>
            <a:r>
              <a:rPr sz="230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300" spc="20" dirty="0">
                <a:ln w="6350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，未合理</a:t>
            </a:r>
            <a:r>
              <a:rPr sz="2300" spc="0" dirty="0">
                <a:ln w="6350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安排作业资源</a:t>
            </a:r>
            <a:endParaRPr lang="en-US" altLang="en-US" sz="2300" dirty="0"/>
          </a:p>
        </p:txBody>
      </p:sp>
      <p:sp>
        <p:nvSpPr>
          <p:cNvPr id="266" name="textbox 266"/>
          <p:cNvSpPr/>
          <p:nvPr/>
        </p:nvSpPr>
        <p:spPr>
          <a:xfrm>
            <a:off x="128051" y="108317"/>
            <a:ext cx="4330700" cy="49403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87325" algn="l" rtl="0" eaLnBrk="0">
              <a:lnSpc>
                <a:spcPts val="3685"/>
              </a:lnSpc>
            </a:pPr>
            <a:r>
              <a:rPr sz="2700" spc="230" dirty="0">
                <a:ln w="6350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(七)</a:t>
            </a:r>
            <a:r>
              <a:rPr sz="2700" spc="2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spc="230" dirty="0">
                <a:ln w="6350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加强多专业计划协</a:t>
            </a:r>
            <a:r>
              <a:rPr sz="2700" spc="150" dirty="0">
                <a:ln w="6350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</a:t>
            </a:r>
            <a:endParaRPr lang="en-US" altLang="en-US" sz="2700" dirty="0"/>
          </a:p>
        </p:txBody>
      </p:sp>
      <p:graphicFrame>
        <p:nvGraphicFramePr>
          <p:cNvPr id="267" name="table 267"/>
          <p:cNvGraphicFramePr>
            <a:graphicFrameLocks noGrp="1"/>
          </p:cNvGraphicFramePr>
          <p:nvPr/>
        </p:nvGraphicFramePr>
        <p:xfrm>
          <a:off x="1905317" y="1719262"/>
          <a:ext cx="2600325" cy="427354"/>
        </p:xfrm>
        <a:graphic>
          <a:graphicData uri="http://schemas.openxmlformats.org/drawingml/2006/table">
            <a:tbl>
              <a:tblPr/>
              <a:tblGrid>
                <a:gridCol w="2600325"/>
              </a:tblGrid>
              <a:tr h="39877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lang="en-US" altLang="en-US" sz="500" dirty="0"/>
                    </a:p>
                    <a:p>
                      <a:pPr marL="934720" algn="l" rtl="0" eaLnBrk="0">
                        <a:lnSpc>
                          <a:spcPct val="91000"/>
                        </a:lnSpc>
                        <a:spcBef>
                          <a:spcPts val="0"/>
                        </a:spcBef>
                      </a:pPr>
                      <a:r>
                        <a:rPr sz="2000" spc="30" dirty="0">
                          <a:ln w="3175" cap="flat" cmpd="sng">
                            <a:solidFill>
                              <a:srgbClr val="FFFFFF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案</a:t>
                      </a:r>
                      <a:r>
                        <a:rPr sz="200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000" spc="30" dirty="0">
                          <a:ln w="3175" cap="flat" cmpd="sng">
                            <a:solidFill>
                              <a:srgbClr val="FFFFFF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例</a:t>
                      </a:r>
                      <a:r>
                        <a:rPr sz="200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000" spc="0" dirty="0">
                          <a:ln w="3175" cap="flat" cmpd="sng">
                            <a:solidFill>
                              <a:srgbClr val="FFFFFF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</a:t>
                      </a:r>
                      <a:endParaRPr lang="en-US" altLang="en-US" sz="2000" dirty="0"/>
                    </a:p>
                  </a:txBody>
                  <a:tcPr marL="0" marR="0" marT="0" marB="0" vert="horz">
                    <a:lnL w="2857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68" name="table 268"/>
          <p:cNvGraphicFramePr>
            <a:graphicFrameLocks noGrp="1"/>
          </p:cNvGraphicFramePr>
          <p:nvPr/>
        </p:nvGraphicFramePr>
        <p:xfrm>
          <a:off x="7712709" y="1718627"/>
          <a:ext cx="2600325" cy="426720"/>
        </p:xfrm>
        <a:graphic>
          <a:graphicData uri="http://schemas.openxmlformats.org/drawingml/2006/table">
            <a:tbl>
              <a:tblPr/>
              <a:tblGrid>
                <a:gridCol w="2600325"/>
              </a:tblGrid>
              <a:tr h="39814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lang="en-US" altLang="en-US" sz="500" dirty="0"/>
                    </a:p>
                    <a:p>
                      <a:pPr marL="680085" algn="l" rtl="0" eaLnBrk="0">
                        <a:lnSpc>
                          <a:spcPct val="92000"/>
                        </a:lnSpc>
                        <a:spcBef>
                          <a:spcPts val="5"/>
                        </a:spcBef>
                      </a:pPr>
                      <a:r>
                        <a:rPr sz="2000" spc="10" dirty="0">
                          <a:ln w="3175" cap="flat" cmpd="sng">
                            <a:solidFill>
                              <a:srgbClr val="FFFFFF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风</a:t>
                      </a:r>
                      <a:r>
                        <a:rPr sz="200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000" spc="10" dirty="0">
                          <a:ln w="3175" cap="flat" cmpd="sng">
                            <a:solidFill>
                              <a:srgbClr val="FFFFFF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险</a:t>
                      </a:r>
                      <a:r>
                        <a:rPr sz="200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000" spc="0" dirty="0">
                          <a:ln w="3175" cap="flat" cmpd="sng">
                            <a:solidFill>
                              <a:srgbClr val="FFFFFF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释</a:t>
                      </a:r>
                      <a:r>
                        <a:rPr sz="200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000" spc="0" dirty="0">
                          <a:ln w="3175" cap="flat" cmpd="sng">
                            <a:solidFill>
                              <a:srgbClr val="FFFFFF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义</a:t>
                      </a:r>
                      <a:endParaRPr lang="en-US" altLang="en-US" sz="2000" dirty="0"/>
                    </a:p>
                  </a:txBody>
                  <a:tcPr marL="0" marR="0" marT="0" marB="0" vert="horz">
                    <a:lnL w="2857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</a:tr>
            </a:tbl>
          </a:graphicData>
        </a:graphic>
      </p:graphicFrame>
      <p:pic>
        <p:nvPicPr>
          <p:cNvPr id="269" name="picture 26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50151"/>
            <a:ext cx="12192000" cy="285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5286</Words>
  <Application>WPS 演示</Application>
  <PresentationFormat/>
  <Paragraphs>266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</vt:lpstr>
      <vt:lpstr>宋体</vt:lpstr>
      <vt:lpstr>Wingdings</vt:lpstr>
      <vt:lpstr>微软雅黑</vt:lpstr>
      <vt:lpstr>Calibri</vt:lpstr>
      <vt:lpstr>Times New Roman</vt:lpstr>
      <vt:lpstr>Wingdings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韦倬鋆</cp:lastModifiedBy>
  <cp:revision>6</cp:revision>
  <dcterms:created xsi:type="dcterms:W3CDTF">2025-07-22T07:26:00Z</dcterms:created>
  <dcterms:modified xsi:type="dcterms:W3CDTF">2025-07-28T04:11:22Z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wqlLaW5nc29mdCBQREYgdG8gV1BTIDgw</vt:lpwstr>
  </property>
  <property fmtid="{D5CDD505-2E9C-101B-9397-08002B2CF9AE}" pid="3" name="Created">
    <vt:filetime>2025-07-23T15:25:32Z</vt:filetime>
  </property>
  <property fmtid="{D5CDD505-2E9C-101B-9397-08002B2CF9AE}" pid="4" name="ICV">
    <vt:lpwstr>C8E825209B7D4262A27265C6943CF6BB</vt:lpwstr>
  </property>
  <property fmtid="{D5CDD505-2E9C-101B-9397-08002B2CF9AE}" pid="5" name="KSOProductBuildVer">
    <vt:lpwstr>2052-11.8.2.12309</vt:lpwstr>
  </property>
</Properties>
</file>